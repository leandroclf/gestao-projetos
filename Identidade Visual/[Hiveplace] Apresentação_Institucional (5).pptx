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embeddedFontLst>
    <p:embeddedFont>
      <p:font typeface="Manrope" panose="020B0604020202020204" charset="0"/>
      <p:regular r:id="rId40"/>
      <p:bold r:id="rId41"/>
    </p:embeddedFont>
    <p:embeddedFont>
      <p:font typeface="Manrope ExtraBold" panose="020B0604020202020204" charset="0"/>
      <p:bold r:id="rId42"/>
    </p:embeddedFont>
    <p:embeddedFont>
      <p:font typeface="Manrope ExtraLight" panose="020B0604020202020204" charset="0"/>
      <p:regular r:id="rId43"/>
      <p:bold r:id="rId44"/>
    </p:embeddedFont>
    <p:embeddedFont>
      <p:font typeface="Manrope Light" panose="020B0604020202020204" charset="0"/>
      <p:regular r:id="rId45"/>
      <p:bold r:id="rId46"/>
    </p:embeddedFont>
    <p:embeddedFont>
      <p:font typeface="Manrope Medium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12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0dd7363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0dd7363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0dd736342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0dd736342_0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0dd73634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0dd73634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dd73634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0dd73634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0dd73634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0dd73634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0dd73634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0dd73634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0dd73634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0dd73634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0dd736342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0dd736342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0dd73634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0dd73634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dd73634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0dd736342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0dd73634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0dd73634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0dd73634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0dd736342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0dd736342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0dd736342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0dd73634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0dd73634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0dd736342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0dd736342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0dd736342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0dd736342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0dd736342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0dd736342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0dd736342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0dd736342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0dd736342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0dd736342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0dd736342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0dd736342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0dd736342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0dd736342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0dd736342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0dd736342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0dd736342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0dd736342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0dd736342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0dd736342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0dd736342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0dd736342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0dd736342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0dd736342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0dd736342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0dd736342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0dd736342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f0dd736342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0dd736342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0dd736342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0dd736342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f0dd736342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0dd736342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f0dd736342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0dd736342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0dd736342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0dd736342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0dd736342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0dd736342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0dd736342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0dd736342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0dd736342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0dd736342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f0dd736342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296AEC-0054-0C19-5D5A-B40A9B1E4CD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06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#pública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Padonagem 2 B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182550" y="-1647175"/>
            <a:ext cx="6525450" cy="679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Logo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2063" y="1604492"/>
            <a:ext cx="6659876" cy="1668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842415" y="2769161"/>
            <a:ext cx="5302963" cy="732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rgbClr val="EEF1F0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Transformando conexões invisíveis em </a:t>
            </a:r>
            <a:r>
              <a:rPr lang="pt-BR" sz="1500" dirty="0">
                <a:solidFill>
                  <a:srgbClr val="EFB41B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inteligência coletiva</a:t>
            </a:r>
            <a:endParaRPr sz="1600" dirty="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765182" y="1540738"/>
            <a:ext cx="57675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 maioria dos grandes desafios digitais </a:t>
            </a:r>
            <a:r>
              <a:rPr lang="pt-BR" sz="28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não é tecnológica.</a:t>
            </a:r>
            <a:endParaRPr sz="28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62" name="Google Shape;62;p14" title="Padronagem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20350" y="-1543050"/>
            <a:ext cx="6127701" cy="616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Padronagem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20350" y="-1543050"/>
            <a:ext cx="6127701" cy="61675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-8250" y="-77200"/>
            <a:ext cx="9160500" cy="5343600"/>
          </a:xfrm>
          <a:prstGeom prst="rect">
            <a:avLst/>
          </a:prstGeom>
          <a:solidFill>
            <a:srgbClr val="0D0D0E">
              <a:alpha val="26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15" title="Vector.png"/>
          <p:cNvPicPr preferRelativeResize="0"/>
          <p:nvPr/>
        </p:nvPicPr>
        <p:blipFill rotWithShape="1">
          <a:blip r:embed="rId4">
            <a:alphaModFix/>
          </a:blip>
          <a:srcRect l="100" r="110"/>
          <a:stretch/>
        </p:blipFill>
        <p:spPr>
          <a:xfrm>
            <a:off x="1527188" y="1472923"/>
            <a:ext cx="6072878" cy="23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2383500" y="2010210"/>
            <a:ext cx="4377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É de interoperabilidade.</a:t>
            </a:r>
            <a:endParaRPr sz="28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Padonagem 2 B.png"/>
          <p:cNvPicPr preferRelativeResize="0"/>
          <p:nvPr/>
        </p:nvPicPr>
        <p:blipFill rotWithShape="1">
          <a:blip r:embed="rId3">
            <a:alphaModFix amt="70000"/>
          </a:blip>
          <a:srcRect t="10260" b="-10260"/>
          <a:stretch/>
        </p:blipFill>
        <p:spPr>
          <a:xfrm>
            <a:off x="5582725" y="-1148100"/>
            <a:ext cx="8029627" cy="83559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832400" y="868776"/>
            <a:ext cx="50193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1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Organizações investem milhões em tecnologia, </a:t>
            </a:r>
            <a:r>
              <a:rPr lang="pt-BR" sz="18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mas continuam enfrentando:</a:t>
            </a:r>
            <a:endParaRPr sz="180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054380" y="1842979"/>
            <a:ext cx="3563400" cy="1440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625" tIns="84625" rIns="84625" bIns="846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Sistemas que não conversam entre si</a:t>
            </a:r>
            <a:endParaRPr sz="11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Fornecedores que operam de forma isolada</a:t>
            </a:r>
            <a:endParaRPr sz="11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Processos lentos e burocráticos</a:t>
            </a:r>
            <a:endParaRPr sz="11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Custos crescentes de integração</a:t>
            </a:r>
            <a:endParaRPr sz="11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Experiências fragmentadas para clientes e cidadãos</a:t>
            </a:r>
            <a:endParaRPr sz="11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8" name="Google Shape;78;p16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675" y="2001805"/>
            <a:ext cx="104705" cy="121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675" y="2250505"/>
            <a:ext cx="104705" cy="121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675" y="2514303"/>
            <a:ext cx="104705" cy="121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675" y="2763003"/>
            <a:ext cx="104705" cy="121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675" y="3022044"/>
            <a:ext cx="104705" cy="12140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873475" y="3540613"/>
            <a:ext cx="4080900" cy="856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O problema não está na falta de tecnologia.</a:t>
            </a:r>
            <a:br>
              <a:rPr lang="pt-BR" sz="110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</a:br>
            <a:r>
              <a:rPr lang="pt-BR" sz="110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Está na incapacidade de conectar ecossistemas complexos.</a:t>
            </a:r>
            <a:endParaRPr sz="110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1531500" y="743275"/>
            <a:ext cx="6081000" cy="116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775" tIns="110775" rIns="110775" bIns="11077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O BRASIL ESTÁ ENTRANDO NA ERA DA</a:t>
            </a:r>
            <a:endParaRPr sz="26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5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INTEROPERABILIDADE.</a:t>
            </a:r>
            <a:endParaRPr sz="265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pSp>
        <p:nvGrpSpPr>
          <p:cNvPr id="89" name="Google Shape;89;p17"/>
          <p:cNvGrpSpPr/>
          <p:nvPr/>
        </p:nvGrpSpPr>
        <p:grpSpPr>
          <a:xfrm>
            <a:off x="1677444" y="2246803"/>
            <a:ext cx="5789046" cy="960368"/>
            <a:chOff x="1677444" y="2246803"/>
            <a:chExt cx="5789046" cy="960368"/>
          </a:xfrm>
        </p:grpSpPr>
        <p:sp>
          <p:nvSpPr>
            <p:cNvPr id="90" name="Google Shape;90;p17"/>
            <p:cNvSpPr/>
            <p:nvPr/>
          </p:nvSpPr>
          <p:spPr>
            <a:xfrm>
              <a:off x="1677444" y="2246803"/>
              <a:ext cx="1681500" cy="357600"/>
            </a:xfrm>
            <a:prstGeom prst="hexagon">
              <a:avLst>
                <a:gd name="adj" fmla="val 28852"/>
                <a:gd name="vf" fmla="val 115470"/>
              </a:avLst>
            </a:prstGeom>
            <a:solidFill>
              <a:srgbClr val="D98E06"/>
            </a:solidFill>
            <a:ln w="9000" cap="flat" cmpd="sng">
              <a:solidFill>
                <a:srgbClr val="EEF1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 dirty="0">
                  <a:solidFill>
                    <a:srgbClr val="EEF1F0"/>
                  </a:solidFill>
                  <a:latin typeface="Manrope"/>
                  <a:ea typeface="Manrope"/>
                  <a:cs typeface="Manrope"/>
                  <a:sym typeface="Manrope"/>
                </a:rPr>
                <a:t>Open </a:t>
              </a:r>
              <a:r>
                <a:rPr lang="pt-BR" sz="1300" b="1" dirty="0" err="1">
                  <a:solidFill>
                    <a:srgbClr val="EEF1F0"/>
                  </a:solidFill>
                  <a:latin typeface="Manrope"/>
                  <a:ea typeface="Manrope"/>
                  <a:cs typeface="Manrope"/>
                  <a:sym typeface="Manrope"/>
                </a:rPr>
                <a:t>Finance</a:t>
              </a:r>
              <a:endParaRPr sz="13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3429117" y="2246803"/>
              <a:ext cx="1681500" cy="357600"/>
            </a:xfrm>
            <a:prstGeom prst="hexagon">
              <a:avLst>
                <a:gd name="adj" fmla="val 28852"/>
                <a:gd name="vf" fmla="val 115470"/>
              </a:avLst>
            </a:prstGeom>
            <a:solidFill>
              <a:srgbClr val="D98E06"/>
            </a:solidFill>
            <a:ln w="9000" cap="flat" cmpd="sng">
              <a:solidFill>
                <a:srgbClr val="EEF1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EEF1F0"/>
                  </a:solidFill>
                  <a:latin typeface="Manrope"/>
                  <a:ea typeface="Manrope"/>
                  <a:cs typeface="Manrope"/>
                  <a:sym typeface="Manrope"/>
                </a:rPr>
                <a:t>Open Health</a:t>
              </a:r>
              <a:endParaRPr sz="13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5180790" y="2246803"/>
              <a:ext cx="2285700" cy="357600"/>
            </a:xfrm>
            <a:prstGeom prst="hexagon">
              <a:avLst>
                <a:gd name="adj" fmla="val 28852"/>
                <a:gd name="vf" fmla="val 115470"/>
              </a:avLst>
            </a:prstGeom>
            <a:solidFill>
              <a:srgbClr val="D98E06"/>
            </a:solidFill>
            <a:ln w="9000" cap="flat" cmpd="sng">
              <a:solidFill>
                <a:srgbClr val="EEF1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EEF1F0"/>
                  </a:solidFill>
                  <a:latin typeface="Manrope"/>
                  <a:ea typeface="Manrope"/>
                  <a:cs typeface="Manrope"/>
                  <a:sym typeface="Manrope"/>
                </a:rPr>
                <a:t>Identidade Digital</a:t>
              </a:r>
              <a:endParaRPr sz="13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1677444" y="2849571"/>
              <a:ext cx="3087900" cy="357600"/>
            </a:xfrm>
            <a:prstGeom prst="hexagon">
              <a:avLst>
                <a:gd name="adj" fmla="val 28852"/>
                <a:gd name="vf" fmla="val 115470"/>
              </a:avLst>
            </a:prstGeom>
            <a:solidFill>
              <a:srgbClr val="D98E06"/>
            </a:solidFill>
            <a:ln w="9000" cap="flat" cmpd="sng">
              <a:solidFill>
                <a:srgbClr val="EEF1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EEF1F0"/>
                  </a:solidFill>
                  <a:latin typeface="Manrope"/>
                  <a:ea typeface="Manrope"/>
                  <a:cs typeface="Manrope"/>
                  <a:sym typeface="Manrope"/>
                </a:rPr>
                <a:t>Serviços Públicos Digitais</a:t>
              </a:r>
              <a:endParaRPr sz="13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4840714" y="2849571"/>
              <a:ext cx="2625600" cy="357600"/>
            </a:xfrm>
            <a:prstGeom prst="hexagon">
              <a:avLst>
                <a:gd name="adj" fmla="val 28852"/>
                <a:gd name="vf" fmla="val 115470"/>
              </a:avLst>
            </a:prstGeom>
            <a:solidFill>
              <a:srgbClr val="D98E06"/>
            </a:solidFill>
            <a:ln w="9000" cap="flat" cmpd="sng">
              <a:solidFill>
                <a:srgbClr val="EEF1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225" tIns="86225" rIns="86225" bIns="862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 b="1">
                  <a:solidFill>
                    <a:srgbClr val="EEF1F0"/>
                  </a:solidFill>
                  <a:latin typeface="Manrope"/>
                  <a:ea typeface="Manrope"/>
                  <a:cs typeface="Manrope"/>
                  <a:sym typeface="Manrope"/>
                </a:rPr>
                <a:t>Ecossistemas de dados</a:t>
              </a:r>
              <a:endParaRPr sz="13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95" name="Google Shape;95;p17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20225" y="-1444816"/>
            <a:ext cx="3872798" cy="3898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7"/>
          <p:cNvGrpSpPr/>
          <p:nvPr/>
        </p:nvGrpSpPr>
        <p:grpSpPr>
          <a:xfrm>
            <a:off x="1531500" y="3452339"/>
            <a:ext cx="6181440" cy="1000337"/>
            <a:chOff x="1531500" y="3452339"/>
            <a:chExt cx="6181440" cy="1000337"/>
          </a:xfrm>
        </p:grpSpPr>
        <p:sp>
          <p:nvSpPr>
            <p:cNvPr id="97" name="Google Shape;97;p17"/>
            <p:cNvSpPr txBox="1"/>
            <p:nvPr/>
          </p:nvSpPr>
          <p:spPr>
            <a:xfrm>
              <a:off x="1531500" y="3452339"/>
              <a:ext cx="3106200" cy="953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800" tIns="88800" rIns="88800" bIns="888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748"/>
                </a:spcBef>
                <a:spcAft>
                  <a:spcPts val="389"/>
                </a:spcAft>
                <a:buNone/>
              </a:pPr>
              <a:r>
                <a:rPr lang="pt-BR" sz="950" dirty="0">
                  <a:solidFill>
                    <a:srgbClr val="EEF1F0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O futuro pertence às organizações capazes de conectar múltiplos sistemas, parceiros e fontes de informação com segurança, governança e eficiência.</a:t>
              </a:r>
              <a:endParaRPr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4934340" y="3501335"/>
              <a:ext cx="2778600" cy="951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800" tIns="88800" rIns="88800" bIns="8880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971"/>
                </a:spcBef>
                <a:spcAft>
                  <a:spcPts val="0"/>
                </a:spcAft>
                <a:buNone/>
              </a:pPr>
              <a:r>
                <a:rPr lang="pt-BR" sz="950" dirty="0">
                  <a:solidFill>
                    <a:srgbClr val="EEF1F0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Mas construir essas conexões exige algo raro:</a:t>
              </a:r>
              <a:endParaRPr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971"/>
                </a:spcBef>
                <a:spcAft>
                  <a:spcPts val="0"/>
                </a:spcAft>
                <a:buNone/>
              </a:pPr>
              <a:r>
                <a:rPr lang="pt-BR" sz="950" dirty="0">
                  <a:solidFill>
                    <a:srgbClr val="EEF1F0"/>
                  </a:solidFill>
                  <a:latin typeface="Manrope Light"/>
                  <a:ea typeface="Manrope Light"/>
                  <a:cs typeface="Manrope Light"/>
                  <a:sym typeface="Manrope Light"/>
                </a:rPr>
                <a:t>Uma camada de inteligência capaz de organizar a complexidade.</a:t>
              </a:r>
              <a:endParaRPr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endParaRPr>
            </a:p>
          </p:txBody>
        </p:sp>
        <p:cxnSp>
          <p:nvCxnSpPr>
            <p:cNvPr id="99" name="Google Shape;99;p17"/>
            <p:cNvCxnSpPr/>
            <p:nvPr/>
          </p:nvCxnSpPr>
          <p:spPr>
            <a:xfrm>
              <a:off x="4707729" y="3751729"/>
              <a:ext cx="0" cy="619800"/>
            </a:xfrm>
            <a:prstGeom prst="straightConnector1">
              <a:avLst/>
            </a:prstGeom>
            <a:noFill/>
            <a:ln w="92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852750" y="1099515"/>
            <a:ext cx="5784900" cy="97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375" tIns="79375" rIns="79375" bIns="793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63"/>
              </a:spcBef>
              <a:spcAft>
                <a:spcPts val="347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É aqui que a </a:t>
            </a:r>
            <a:r>
              <a:rPr lang="pt-BR" sz="3200" dirty="0" err="1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HIVEPlace</a:t>
            </a:r>
            <a:r>
              <a:rPr lang="pt-BR" sz="32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r>
              <a:rPr lang="pt-BR" sz="3200" dirty="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atua.</a:t>
            </a:r>
            <a:endParaRPr sz="3200" dirty="0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852750" y="2027850"/>
            <a:ext cx="5784900" cy="1367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375" tIns="79375" rIns="79375" bIns="793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5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Somos a primeira </a:t>
            </a:r>
            <a:r>
              <a:rPr lang="pt-BR" sz="155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Agência de Interoperabilidade</a:t>
            </a:r>
            <a:r>
              <a:rPr lang="pt-BR" sz="155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do Brasil.</a:t>
            </a:r>
            <a:endParaRPr sz="1550" dirty="0">
              <a:solidFill>
                <a:srgbClr val="0D0D0E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042"/>
              </a:spcBef>
              <a:spcAft>
                <a:spcPts val="1042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50" dirty="0">
                <a:solidFill>
                  <a:srgbClr val="0D0D0E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Nascemos da união entre a robustez institucional da BB Tecnologia e Serviços e a agilidade da Skill.</a:t>
            </a:r>
            <a:endParaRPr sz="1550" dirty="0">
              <a:solidFill>
                <a:srgbClr val="0D0D0E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106" name="Google Shape;106;p18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526" y="2936300"/>
            <a:ext cx="7173173" cy="746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526" y="-4893025"/>
            <a:ext cx="7173173" cy="746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/>
        </p:nvSpPr>
        <p:spPr>
          <a:xfrm>
            <a:off x="886950" y="1263600"/>
            <a:ext cx="7370100" cy="1443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375" tIns="79375" rIns="79375" bIns="7937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42"/>
              </a:spcBef>
              <a:spcAft>
                <a:spcPts val="1042"/>
              </a:spcAft>
              <a:buNone/>
            </a:pPr>
            <a:r>
              <a:rPr lang="pt-BR" sz="145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A </a:t>
            </a:r>
            <a:r>
              <a:rPr lang="pt-BR" sz="1450" dirty="0" err="1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HIVEPlace</a:t>
            </a:r>
            <a:r>
              <a:rPr lang="pt-BR" sz="145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 nasceu da</a:t>
            </a:r>
            <a:r>
              <a:rPr lang="pt-BR" sz="1450" b="1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 união entre a robustez institucional da BB Tecnologia e Serviços e a agilidade da Skill.</a:t>
            </a:r>
            <a:r>
              <a:rPr lang="pt-BR" sz="145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 Essa fusão cria uma configuração única no mercado, integrando governança pública, inovação privada, capacidade tecnológica e uma profunda visão de ecossistema.</a:t>
            </a:r>
            <a:endParaRPr sz="145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948349" y="2762152"/>
            <a:ext cx="2443800" cy="2829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404146"/>
          </a:solidFill>
          <a:ln w="71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50" tIns="68250" rIns="68250" bIns="68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Não somos uma integradora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3451945" y="2762152"/>
            <a:ext cx="2078100" cy="2829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404146"/>
          </a:solidFill>
          <a:ln w="71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50" tIns="68250" rIns="68250" bIns="68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Não somos um software</a:t>
            </a:r>
            <a:endParaRPr sz="100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5589652" y="2762152"/>
            <a:ext cx="2667300" cy="2829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404146"/>
          </a:solidFill>
          <a:ln w="71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50" tIns="68250" rIns="68250" bIns="68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Não somos mais um fornecedor</a:t>
            </a:r>
            <a:endParaRPr sz="100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948350" y="3232650"/>
            <a:ext cx="7308600" cy="399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D98E06"/>
          </a:solidFill>
          <a:ln w="7125" cap="flat" cmpd="sng">
            <a:solidFill>
              <a:srgbClr val="4041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250" tIns="68250" rIns="68250" bIns="68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Somos a camada que conecta, organiza e orquestra ecossistemas tecnológicos complexos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7" name="Google Shape;117;p19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8974" y="3774500"/>
            <a:ext cx="7173173" cy="746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851" y="-4890238"/>
            <a:ext cx="7173173" cy="746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Padonagem 2 B.png"/>
          <p:cNvPicPr preferRelativeResize="0"/>
          <p:nvPr/>
        </p:nvPicPr>
        <p:blipFill rotWithShape="1">
          <a:blip r:embed="rId3">
            <a:alphaModFix amt="70000"/>
          </a:blip>
          <a:srcRect t="10260" b="-10260"/>
          <a:stretch/>
        </p:blipFill>
        <p:spPr>
          <a:xfrm>
            <a:off x="4308250" y="-805275"/>
            <a:ext cx="8029627" cy="835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866775" y="778604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 que nos torna </a:t>
            </a:r>
            <a:r>
              <a:rPr lang="pt-BR" sz="28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diferentes</a:t>
            </a:r>
            <a:endParaRPr sz="280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872356" y="2182641"/>
            <a:ext cx="2011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90700" rIns="90700" bIns="90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 credibilidade do setor público aliada à velocidade da inovação privada.</a:t>
            </a:r>
            <a:endParaRPr sz="105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866775" y="1684758"/>
            <a:ext cx="2406300" cy="69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98000" rIns="98000" bIns="980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929"/>
              </a:spcBef>
              <a:spcAft>
                <a:spcPts val="429"/>
              </a:spcAft>
              <a:buNone/>
            </a:pPr>
            <a:r>
              <a:rPr lang="pt-BR" sz="115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GOVERNANÇA + AGILIDADE</a:t>
            </a:r>
            <a:endParaRPr sz="115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866775" y="3411228"/>
            <a:ext cx="23541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90700" rIns="90700" bIns="90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Selecionamos a melhor combinação de tecnologias e fornecedores para cada desafio.</a:t>
            </a:r>
            <a:endParaRPr sz="105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866775" y="2916543"/>
            <a:ext cx="2406300" cy="69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98000" rIns="98000" bIns="980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929"/>
              </a:spcBef>
              <a:spcAft>
                <a:spcPts val="429"/>
              </a:spcAft>
              <a:buNone/>
            </a:pPr>
            <a:r>
              <a:rPr lang="pt-BR" sz="115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ORQUESTRAÇÃO AGNÓSTICA</a:t>
            </a:r>
            <a:endParaRPr sz="115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3470062" y="2182641"/>
            <a:ext cx="27606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90700" rIns="90700" bIns="90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Um único contrato.</a:t>
            </a:r>
            <a:endParaRPr sz="105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Múltiplos especialistas.</a:t>
            </a:r>
            <a:endParaRPr sz="105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Menos complexidade operacional.</a:t>
            </a:r>
            <a:endParaRPr sz="105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470062" y="1684745"/>
            <a:ext cx="2485570" cy="701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98000" rIns="98000" bIns="980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929"/>
              </a:spcBef>
              <a:spcAft>
                <a:spcPts val="429"/>
              </a:spcAft>
              <a:buNone/>
            </a:pPr>
            <a:r>
              <a:rPr lang="pt-BR" sz="115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CONTRATAÇÃO SIMPLIFICADA</a:t>
            </a:r>
            <a:endParaRPr sz="115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470062" y="3411228"/>
            <a:ext cx="20904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90700" rIns="90700" bIns="90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Não resolvemos integrações isoladas. Organizamos sistemas inteiros.</a:t>
            </a:r>
            <a:endParaRPr sz="105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3470062" y="2916543"/>
            <a:ext cx="2406300" cy="69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000" tIns="98000" rIns="98000" bIns="980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929"/>
              </a:spcBef>
              <a:spcAft>
                <a:spcPts val="429"/>
              </a:spcAft>
              <a:buNone/>
            </a:pPr>
            <a:r>
              <a:rPr lang="pt-BR" sz="115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VISÃO DE ECOSSISTEMA</a:t>
            </a:r>
            <a:endParaRPr sz="115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1704975" y="420467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 valor que </a:t>
            </a:r>
            <a:r>
              <a:rPr lang="pt-BR" sz="28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entregamos</a:t>
            </a:r>
            <a:endParaRPr sz="280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5133675" y="1542725"/>
            <a:ext cx="31698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 w="8025" cap="flat" cmpd="sng">
            <a:solidFill>
              <a:srgbClr val="EEF1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Redução estrutural de custos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5018175" y="2026617"/>
            <a:ext cx="32853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D98E06"/>
          </a:solidFill>
          <a:ln w="8025" cap="flat" cmpd="sng">
            <a:solidFill>
              <a:srgbClr val="EEF1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Aceleração de jornadas digitais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3868575" y="2510508"/>
            <a:ext cx="4434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 w="8025" cap="flat" cmpd="sng">
            <a:solidFill>
              <a:srgbClr val="EEF1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Menor dependência de múltiplos fornecedores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3919875" y="2994400"/>
            <a:ext cx="43836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D98E06"/>
          </a:solidFill>
          <a:ln w="8025" cap="flat" cmpd="sng">
            <a:solidFill>
              <a:srgbClr val="EEF1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Redução de riscos operacionais e regulatórios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3597075" y="3478291"/>
            <a:ext cx="47064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 w="8025" cap="flat" cmpd="sng">
            <a:solidFill>
              <a:srgbClr val="EEF1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Experiências mais simples para clientes e cidadãos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5133675" y="3962183"/>
            <a:ext cx="31698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D98E06"/>
          </a:solidFill>
          <a:ln w="8025" cap="flat" cmpd="sng">
            <a:solidFill>
              <a:srgbClr val="EEF1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Mais capacidade de inovação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4" name="Google Shape;144;p21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6000" y="-438375"/>
            <a:ext cx="4253083" cy="42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/>
        </p:nvSpPr>
        <p:spPr>
          <a:xfrm>
            <a:off x="847725" y="766935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Como </a:t>
            </a:r>
            <a:r>
              <a:rPr lang="pt-BR" sz="28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atuamos</a:t>
            </a:r>
            <a:endParaRPr sz="28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847725" y="2161077"/>
            <a:ext cx="2418900" cy="68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Compreendemos a dor real do negócio.</a:t>
            </a:r>
            <a:endParaRPr sz="13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847725" y="1609328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DIAGNÓSTICO</a:t>
            </a:r>
            <a:endParaRPr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847725" y="3234691"/>
            <a:ext cx="2490600" cy="68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Selecionamos e conectamos os parceiros certos.</a:t>
            </a:r>
            <a:endParaRPr sz="13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847725" y="2666986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ORQUESTRAÇÃO</a:t>
            </a:r>
            <a:endParaRPr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3644080" y="2181779"/>
            <a:ext cx="3320400" cy="45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Desenhamos o ecossistema ideal.</a:t>
            </a:r>
            <a:endParaRPr sz="13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3644080" y="1609328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ARQUITETURA</a:t>
            </a:r>
            <a:endParaRPr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3644079" y="3178786"/>
            <a:ext cx="3510965" cy="91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Garantimos governança, monitoramento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e evolução contínua através de projetos de infraestrutura viva.</a:t>
            </a:r>
            <a:endParaRPr sz="13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3644080" y="2604178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OPERAÇÃO</a:t>
            </a:r>
            <a:endParaRPr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58" name="Google Shape;158;p22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276" y="-2410688"/>
            <a:ext cx="7173173" cy="746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11324" y="3756862"/>
            <a:ext cx="7173173" cy="746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1272750" y="483238"/>
            <a:ext cx="659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Ecossistemas que </a:t>
            </a:r>
            <a:r>
              <a:rPr lang="pt-BR" sz="28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transformamos</a:t>
            </a:r>
            <a:endParaRPr sz="2800" dirty="0">
              <a:solidFill>
                <a:srgbClr val="EFB41B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914386" y="1548750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 Digital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66" name="Google Shape;166;p23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9825" y="3479450"/>
            <a:ext cx="4253083" cy="42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985936" y="1832975"/>
            <a:ext cx="21708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Confiança e autenticação em </a:t>
            </a:r>
            <a:b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0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jornadas críticas.</a:t>
            </a:r>
            <a:endParaRPr sz="10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3423238" y="1548750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Segurança Digital</a:t>
            </a:r>
            <a:endParaRPr sz="115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3513238" y="1832975"/>
            <a:ext cx="2133900" cy="39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Prevenção e combate à fraude.</a:t>
            </a:r>
            <a:endParaRPr sz="10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5915735" y="1548750"/>
            <a:ext cx="2446211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 err="1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Onboarding</a:t>
            </a: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Inteligente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5987286" y="1832975"/>
            <a:ext cx="21708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Experiências de entrada mais </a:t>
            </a:r>
            <a:b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rápidas e seguras.</a:t>
            </a:r>
            <a:endParaRPr sz="10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914386" y="2571238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Governo Digital</a:t>
            </a:r>
            <a:endParaRPr sz="115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1004386" y="2855463"/>
            <a:ext cx="2133900" cy="39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Integração de serviços públicos.</a:t>
            </a:r>
            <a:endParaRPr sz="10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3423238" y="2571238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Agronegócio</a:t>
            </a:r>
            <a:endParaRPr sz="115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3433288" y="2855463"/>
            <a:ext cx="22938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Dados para crédito, conformidade </a:t>
            </a:r>
            <a:b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 gestão rural.</a:t>
            </a:r>
            <a:endParaRPr sz="10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5942140" y="2571238"/>
            <a:ext cx="244621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Sistemas Judiciários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6005736" y="2855463"/>
            <a:ext cx="21339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Automação e interoperabilidade processual.</a:t>
            </a:r>
            <a:endParaRPr sz="10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3423238" y="3644775"/>
            <a:ext cx="23139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Due Diligence</a:t>
            </a:r>
            <a:endParaRPr sz="115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3513238" y="3929000"/>
            <a:ext cx="2133900" cy="57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Inteligência para decisões mais seguras.</a:t>
            </a:r>
            <a:endParaRPr sz="10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0" name="Google Shape;180;p23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000" y="3593750"/>
            <a:ext cx="4253083" cy="42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 title="Padonagem 2 B.png"/>
          <p:cNvPicPr preferRelativeResize="0"/>
          <p:nvPr/>
        </p:nvPicPr>
        <p:blipFill rotWithShape="1">
          <a:blip r:embed="rId3">
            <a:alphaModFix amt="70000"/>
          </a:blip>
          <a:srcRect l="-3210" t="1130" r="3210" b="-1130"/>
          <a:stretch/>
        </p:blipFill>
        <p:spPr>
          <a:xfrm>
            <a:off x="3968348" y="-2690398"/>
            <a:ext cx="6991527" cy="727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733150" y="2719463"/>
            <a:ext cx="32352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Soluções </a:t>
            </a:r>
            <a:r>
              <a:rPr lang="pt-BR" sz="4800" dirty="0" err="1">
                <a:solidFill>
                  <a:srgbClr val="EFB41B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HIVEPlace</a:t>
            </a:r>
            <a:endParaRPr sz="4800" dirty="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187" name="Google Shape;187;p24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9513" y="0"/>
            <a:ext cx="443651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151" y="2167782"/>
            <a:ext cx="7173173" cy="7464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2515350" y="442478"/>
            <a:ext cx="5744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JORNADA </a:t>
            </a:r>
            <a:r>
              <a:rPr lang="pt-BR" sz="48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SEGURA</a:t>
            </a:r>
            <a:endParaRPr sz="4800" dirty="0">
              <a:solidFill>
                <a:srgbClr val="D98E06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194" name="Google Shape;194;p25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24193" y="2462957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2712150" y="1365878"/>
            <a:ext cx="554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Validação de identidade, autenticação e prevenção à fraude.</a:t>
            </a:r>
            <a:endParaRPr sz="1500" dirty="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6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524" y="798601"/>
            <a:ext cx="6357201" cy="66156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672862" y="1187196"/>
            <a:ext cx="4890600" cy="33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É uma solução ponta a ponta voltada para canais de autoatendimento e canais assistidos, como o COBAN e o atendimento via WhatsApp, com foco na identificação, validação e segurança do atendimento.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Ela garante a </a:t>
            </a:r>
            <a:r>
              <a:rPr lang="pt-BR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veracidade dos dados, a autenticidade do usuário e respostas em tempo real, minimizando fraudes e otimizando a experiência.</a:t>
            </a:r>
            <a:endParaRPr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No contexto de uma</a:t>
            </a:r>
            <a:r>
              <a:rPr lang="pt-BR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agência bancária ou atendimento digital, isso se traduz em uma experiência mais ágil, fluida e personalizada para o cliente.</a:t>
            </a:r>
            <a:endParaRPr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02" name="Google Shape;202;p26"/>
          <p:cNvGrpSpPr/>
          <p:nvPr/>
        </p:nvGrpSpPr>
        <p:grpSpPr>
          <a:xfrm>
            <a:off x="389713" y="24064"/>
            <a:ext cx="8364574" cy="676935"/>
            <a:chOff x="231075" y="-91258"/>
            <a:chExt cx="8698600" cy="703969"/>
          </a:xfrm>
        </p:grpSpPr>
        <p:sp>
          <p:nvSpPr>
            <p:cNvPr id="203" name="Google Shape;203;p26"/>
            <p:cNvSpPr txBox="1"/>
            <p:nvPr/>
          </p:nvSpPr>
          <p:spPr>
            <a:xfrm>
              <a:off x="7134775" y="-91258"/>
              <a:ext cx="1794900" cy="703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JORNADA </a:t>
              </a:r>
              <a:r>
                <a:rPr lang="pt-BR" sz="1300" dirty="0">
                  <a:solidFill>
                    <a:srgbClr val="D98E0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SEGURA</a:t>
              </a:r>
              <a:endParaRPr sz="1300" dirty="0">
                <a:solidFill>
                  <a:srgbClr val="D98E06"/>
                </a:solidFill>
                <a:latin typeface="Manrope ExtraLight"/>
                <a:ea typeface="Manrope ExtraLight"/>
                <a:cs typeface="Manrope ExtraLight"/>
                <a:sym typeface="Manrope ExtraLight"/>
              </a:endParaRPr>
            </a:p>
          </p:txBody>
        </p:sp>
        <p:pic>
          <p:nvPicPr>
            <p:cNvPr id="204" name="Google Shape;204;p26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5" name="Google Shape;205;p26"/>
            <p:cNvCxnSpPr/>
            <p:nvPr/>
          </p:nvCxnSpPr>
          <p:spPr>
            <a:xfrm>
              <a:off x="638828" y="328075"/>
              <a:ext cx="63966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27"/>
          <p:cNvGrpSpPr/>
          <p:nvPr/>
        </p:nvGrpSpPr>
        <p:grpSpPr>
          <a:xfrm>
            <a:off x="389713" y="0"/>
            <a:ext cx="8376146" cy="676935"/>
            <a:chOff x="231075" y="-116282"/>
            <a:chExt cx="8710634" cy="703968"/>
          </a:xfrm>
        </p:grpSpPr>
        <p:sp>
          <p:nvSpPr>
            <p:cNvPr id="211" name="Google Shape;211;p27"/>
            <p:cNvSpPr txBox="1"/>
            <p:nvPr/>
          </p:nvSpPr>
          <p:spPr>
            <a:xfrm>
              <a:off x="7146809" y="-116282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JORNADA </a:t>
              </a:r>
              <a:r>
                <a:rPr lang="pt-BR" sz="1300" dirty="0">
                  <a:solidFill>
                    <a:srgbClr val="D98E0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SEGURA</a:t>
              </a:r>
              <a:endParaRPr sz="1300" dirty="0">
                <a:solidFill>
                  <a:srgbClr val="D98E06"/>
                </a:solidFill>
                <a:latin typeface="Manrope ExtraLight"/>
                <a:ea typeface="Manrope ExtraLight"/>
                <a:cs typeface="Manrope ExtraLight"/>
                <a:sym typeface="Manrope ExtraLight"/>
              </a:endParaRPr>
            </a:p>
          </p:txBody>
        </p:sp>
        <p:pic>
          <p:nvPicPr>
            <p:cNvPr id="212" name="Google Shape;212;p27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3" name="Google Shape;213;p27"/>
            <p:cNvCxnSpPr/>
            <p:nvPr/>
          </p:nvCxnSpPr>
          <p:spPr>
            <a:xfrm>
              <a:off x="638828" y="328075"/>
              <a:ext cx="63966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14" name="Google Shape;214;p27"/>
          <p:cNvCxnSpPr>
            <a:endCxn id="215" idx="0"/>
          </p:cNvCxnSpPr>
          <p:nvPr/>
        </p:nvCxnSpPr>
        <p:spPr>
          <a:xfrm>
            <a:off x="1149425" y="2841195"/>
            <a:ext cx="6959400" cy="0"/>
          </a:xfrm>
          <a:prstGeom prst="straightConnector1">
            <a:avLst/>
          </a:prstGeom>
          <a:noFill/>
          <a:ln w="19050" cap="flat" cmpd="sng">
            <a:solidFill>
              <a:srgbClr val="5D2E0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27"/>
          <p:cNvSpPr/>
          <p:nvPr/>
        </p:nvSpPr>
        <p:spPr>
          <a:xfrm>
            <a:off x="1035150" y="2751795"/>
            <a:ext cx="206400" cy="1788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2607000" y="2751795"/>
            <a:ext cx="206400" cy="1788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4178850" y="2751795"/>
            <a:ext cx="206400" cy="1788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5192813" y="1844845"/>
            <a:ext cx="206400" cy="1788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6206775" y="2751795"/>
            <a:ext cx="206400" cy="1788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7902425" y="2751795"/>
            <a:ext cx="206400" cy="1788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5D2E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1" name="Google Shape;221;p27"/>
          <p:cNvCxnSpPr>
            <a:stCxn id="218" idx="5"/>
          </p:cNvCxnSpPr>
          <p:nvPr/>
        </p:nvCxnSpPr>
        <p:spPr>
          <a:xfrm rot="10800000" flipH="1">
            <a:off x="4333663" y="2749995"/>
            <a:ext cx="411600" cy="1800"/>
          </a:xfrm>
          <a:prstGeom prst="straightConnector1">
            <a:avLst/>
          </a:prstGeom>
          <a:noFill/>
          <a:ln w="9525" cap="flat" cmpd="sng">
            <a:solidFill>
              <a:srgbClr val="5D2E0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2" name="Google Shape;222;p27"/>
          <p:cNvSpPr txBox="1"/>
          <p:nvPr/>
        </p:nvSpPr>
        <p:spPr>
          <a:xfrm>
            <a:off x="484050" y="2095226"/>
            <a:ext cx="130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Início do</a:t>
            </a:r>
            <a:endParaRPr sz="1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Atendimento</a:t>
            </a:r>
            <a:endParaRPr sz="1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122650" y="3069173"/>
            <a:ext cx="20259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Cliente acessa canal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(totem, app, COBAN, agência)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Interface front-end solicita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identificação (CPF, cartão)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1089400" y="3490751"/>
            <a:ext cx="92400" cy="89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2082842" y="2095226"/>
            <a:ext cx="130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Identificação</a:t>
            </a:r>
            <a:endParaRPr sz="1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do Cliente</a:t>
            </a:r>
            <a:endParaRPr sz="1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1721442" y="3069173"/>
            <a:ext cx="2025900" cy="1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Captura facial ou digital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+ dados declaratórios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Consulta ao Hive para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validação de identidade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(base interna + externa)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2688192" y="3490751"/>
            <a:ext cx="92400" cy="89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3628717" y="2125732"/>
            <a:ext cx="130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Validação</a:t>
            </a:r>
            <a:endParaRPr sz="130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Cadastral</a:t>
            </a:r>
            <a:endParaRPr sz="130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3267317" y="3099679"/>
            <a:ext cx="2025900" cy="12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Checagem automática de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inconsistências, alertas e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pendências cadastrais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Geração de score de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confiabilidade e sinalização</a:t>
            </a:r>
            <a:b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 de risco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4234067" y="3654164"/>
            <a:ext cx="92400" cy="89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1" name="Google Shape;231;p27"/>
          <p:cNvCxnSpPr>
            <a:stCxn id="219" idx="3"/>
          </p:cNvCxnSpPr>
          <p:nvPr/>
        </p:nvCxnSpPr>
        <p:spPr>
          <a:xfrm flipH="1">
            <a:off x="4745213" y="1934245"/>
            <a:ext cx="447600" cy="813300"/>
          </a:xfrm>
          <a:prstGeom prst="straightConnector1">
            <a:avLst/>
          </a:prstGeom>
          <a:noFill/>
          <a:ln w="9525" cap="flat" cmpd="sng">
            <a:solidFill>
              <a:srgbClr val="5D2E0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/>
          <p:nvPr/>
        </p:nvCxnSpPr>
        <p:spPr>
          <a:xfrm rot="10800000">
            <a:off x="5846649" y="2750696"/>
            <a:ext cx="411600" cy="1800"/>
          </a:xfrm>
          <a:prstGeom prst="straightConnector1">
            <a:avLst/>
          </a:prstGeom>
          <a:noFill/>
          <a:ln w="9525" cap="flat" cmpd="sng">
            <a:solidFill>
              <a:srgbClr val="5D2E0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/>
          <p:nvPr/>
        </p:nvCxnSpPr>
        <p:spPr>
          <a:xfrm>
            <a:off x="5399099" y="1934946"/>
            <a:ext cx="447600" cy="813300"/>
          </a:xfrm>
          <a:prstGeom prst="straightConnector1">
            <a:avLst/>
          </a:prstGeom>
          <a:noFill/>
          <a:ln w="9525" cap="flat" cmpd="sng">
            <a:solidFill>
              <a:srgbClr val="5D2E0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4" name="Google Shape;234;p27"/>
          <p:cNvSpPr txBox="1"/>
          <p:nvPr/>
        </p:nvSpPr>
        <p:spPr>
          <a:xfrm>
            <a:off x="5639127" y="2129474"/>
            <a:ext cx="130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Autenticação</a:t>
            </a:r>
            <a:endParaRPr sz="130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Segura</a:t>
            </a:r>
            <a:endParaRPr sz="130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5277727" y="3103421"/>
            <a:ext cx="20259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Liveness + matching </a:t>
            </a:r>
            <a:b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biométrico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Geolocalização e telemetria </a:t>
            </a:r>
            <a:b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de dispositivo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6244477" y="3524999"/>
            <a:ext cx="92400" cy="89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7354077" y="2129474"/>
            <a:ext cx="130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Liberação de</a:t>
            </a:r>
            <a:endParaRPr sz="130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</a:t>
            </a:r>
            <a:endParaRPr sz="130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7236346" y="3103426"/>
            <a:ext cx="15363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Com base nos níveis </a:t>
            </a:r>
            <a:b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de confiança, permite transações, acesso a crédito ou continuidade </a:t>
            </a:r>
            <a:b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80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no atendimento</a:t>
            </a:r>
            <a:endParaRPr sz="80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4247100" y="1105975"/>
            <a:ext cx="2086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Atualização de Dados</a:t>
            </a:r>
            <a:endParaRPr sz="1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(se necessário)</a:t>
            </a:r>
            <a:endParaRPr sz="1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6258252" y="914684"/>
            <a:ext cx="20259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Coleta assistida ou automática de</a:t>
            </a:r>
            <a:endParaRPr sz="8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documentos</a:t>
            </a:r>
            <a:endParaRPr sz="8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Conferência e validação em tempo</a:t>
            </a:r>
            <a:endParaRPr sz="8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real com bases de apoio</a:t>
            </a:r>
            <a:endParaRPr sz="8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6605877" y="1336261"/>
            <a:ext cx="92400" cy="89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7"/>
          <p:cNvSpPr/>
          <p:nvPr/>
        </p:nvSpPr>
        <p:spPr>
          <a:xfrm>
            <a:off x="6251625" y="1037750"/>
            <a:ext cx="59100" cy="679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5D2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484052" y="1233713"/>
            <a:ext cx="1816200" cy="2475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Ambiente Antifraude</a:t>
            </a:r>
            <a:endParaRPr sz="8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4937325" y="4798200"/>
            <a:ext cx="4200600" cy="36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D0D0E"/>
                </a:solidFill>
                <a:latin typeface="Manrope"/>
                <a:ea typeface="Manrope"/>
                <a:cs typeface="Manrope"/>
                <a:sym typeface="Manrope"/>
              </a:rPr>
              <a:t>Toda a jornada é registrada com logs e trilhas de auditoria, respeitando a LGPD.</a:t>
            </a:r>
            <a:endParaRPr sz="800" dirty="0">
              <a:solidFill>
                <a:srgbClr val="0D0D0E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45" name="Google Shape;245;p27" title="Padonagem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12675" y="4223230"/>
            <a:ext cx="4400049" cy="457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/>
        </p:nvSpPr>
        <p:spPr>
          <a:xfrm>
            <a:off x="695655" y="489627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695655" y="1319825"/>
            <a:ext cx="23007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1418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Serviços:</a:t>
            </a:r>
            <a:endParaRPr sz="1418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695655" y="1776124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VALIDAÇÃO DE </a:t>
            </a:r>
            <a:b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</a:b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</a:t>
            </a:r>
            <a:endParaRPr sz="90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pSp>
        <p:nvGrpSpPr>
          <p:cNvPr id="253" name="Google Shape;253;p28"/>
          <p:cNvGrpSpPr/>
          <p:nvPr/>
        </p:nvGrpSpPr>
        <p:grpSpPr>
          <a:xfrm>
            <a:off x="389713" y="-5667"/>
            <a:ext cx="8376606" cy="676935"/>
            <a:chOff x="231075" y="-122173"/>
            <a:chExt cx="8711112" cy="703965"/>
          </a:xfrm>
        </p:grpSpPr>
        <p:sp>
          <p:nvSpPr>
            <p:cNvPr id="254" name="Google Shape;254;p28"/>
            <p:cNvSpPr txBox="1"/>
            <p:nvPr/>
          </p:nvSpPr>
          <p:spPr>
            <a:xfrm>
              <a:off x="7147287" y="-122173"/>
              <a:ext cx="1794900" cy="703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JORNADA </a:t>
              </a:r>
              <a:r>
                <a:rPr lang="pt-BR" sz="1300" dirty="0">
                  <a:solidFill>
                    <a:srgbClr val="D98E0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SEGURA</a:t>
              </a:r>
              <a:endParaRPr sz="1300" dirty="0">
                <a:solidFill>
                  <a:srgbClr val="D98E06"/>
                </a:solidFill>
                <a:latin typeface="Manrope ExtraLight"/>
                <a:ea typeface="Manrope ExtraLight"/>
                <a:cs typeface="Manrope ExtraLight"/>
                <a:sym typeface="Manrope ExtraLight"/>
              </a:endParaRPr>
            </a:p>
          </p:txBody>
        </p:sp>
        <p:pic>
          <p:nvPicPr>
            <p:cNvPr id="255" name="Google Shape;255;p28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6" name="Google Shape;256;p28"/>
            <p:cNvCxnSpPr/>
            <p:nvPr/>
          </p:nvCxnSpPr>
          <p:spPr>
            <a:xfrm>
              <a:off x="638828" y="328075"/>
              <a:ext cx="63966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7" name="Google Shape;257;p28"/>
          <p:cNvSpPr txBox="1"/>
          <p:nvPr/>
        </p:nvSpPr>
        <p:spPr>
          <a:xfrm>
            <a:off x="695655" y="1194912"/>
            <a:ext cx="737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Assinatura por volume de consultas realizadas + taxa fixa por implementação inicial e suporte</a:t>
            </a:r>
            <a:endParaRPr sz="12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781808" y="2555673"/>
            <a:ext cx="1665000" cy="20982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Validação de documento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de identificação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Documentoscopia com SDK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Componente de captura de imagem (facial) com segurança contra injeção de dados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Validação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template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facial com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bureaus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b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</a:b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 bases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Matching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de faces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6.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Antispoofing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facial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2611730" y="1776124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VALIDAÇÃO DE CONTATO E LOCALIZAÇÃO</a:t>
            </a:r>
            <a:endParaRPr sz="90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2691436" y="2549703"/>
            <a:ext cx="1665000" cy="14649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Validação de número de telefone celular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Validação de endereço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Validação e identificação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email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Pacote de informações de telefone 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email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4523158" y="1776124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DADOS PESSOAIS COMPLEMENTARES</a:t>
            </a:r>
            <a:endParaRPr sz="90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4607511" y="2549703"/>
            <a:ext cx="1665000" cy="11352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Pacote com informações de CPF, nome, endereço e telefones fixo e celular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Pacotes com informações da mãe, renda, classe social, data de nascimento e gênero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6428482" y="1776124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ANÁLISE FINANCEIRA </a:t>
            </a:r>
            <a:b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</a:b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 RISCO</a:t>
            </a:r>
            <a:endParaRPr sz="90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6534382" y="2568474"/>
            <a:ext cx="1665000" cy="14649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Score financeiro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Score de validações cadastrais agregadas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Pacote com informações de score, email, óbito, situação de cobrança, CCF, histórico e PPE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Telemetria de dispositivos;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id="265" name="Google Shape;265;p28" title="Padonagem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455" y="3817938"/>
            <a:ext cx="4400049" cy="457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9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2515350" y="635850"/>
            <a:ext cx="5744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PROVA</a:t>
            </a:r>
            <a:r>
              <a:rPr lang="pt-BR" sz="480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r>
              <a:rPr lang="pt-BR" sz="48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DE VIDA</a:t>
            </a:r>
            <a:endParaRPr sz="4800" dirty="0">
              <a:solidFill>
                <a:srgbClr val="D98E06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272" name="Google Shape;272;p29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9"/>
          <p:cNvSpPr txBox="1"/>
          <p:nvPr/>
        </p:nvSpPr>
        <p:spPr>
          <a:xfrm>
            <a:off x="891650" y="1462725"/>
            <a:ext cx="7367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Validação inteligente baseada em interoperabilidade de dados.</a:t>
            </a:r>
            <a:endParaRPr sz="15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0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5749500" y="566625"/>
            <a:ext cx="7367700" cy="7667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30"/>
          <p:cNvGrpSpPr/>
          <p:nvPr/>
        </p:nvGrpSpPr>
        <p:grpSpPr>
          <a:xfrm>
            <a:off x="389713" y="18397"/>
            <a:ext cx="8364574" cy="676935"/>
            <a:chOff x="231075" y="-97149"/>
            <a:chExt cx="8698600" cy="703965"/>
          </a:xfrm>
        </p:grpSpPr>
        <p:sp>
          <p:nvSpPr>
            <p:cNvPr id="280" name="Google Shape;280;p30"/>
            <p:cNvSpPr txBox="1"/>
            <p:nvPr/>
          </p:nvSpPr>
          <p:spPr>
            <a:xfrm>
              <a:off x="7134775" y="-97149"/>
              <a:ext cx="1794900" cy="703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PROVA 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DE VIDA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281" name="Google Shape;281;p30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2" name="Google Shape;282;p30"/>
            <p:cNvCxnSpPr/>
            <p:nvPr/>
          </p:nvCxnSpPr>
          <p:spPr>
            <a:xfrm>
              <a:off x="638828" y="328075"/>
              <a:ext cx="67050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3" name="Google Shape;283;p30"/>
          <p:cNvSpPr txBox="1"/>
          <p:nvPr/>
        </p:nvSpPr>
        <p:spPr>
          <a:xfrm>
            <a:off x="672850" y="1187200"/>
            <a:ext cx="4795800" cy="320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 solução 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Prova de Vida</a:t>
            </a: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utiliza a interoperabilidade de </a:t>
            </a:r>
            <a:b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dados para realizar cruzamentos automáticos e seguros de informações, 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eliminando a necessidade de deslocamentos presenciais ou envio de documentos por parte do cidadão.</a:t>
            </a:r>
            <a:endParaRPr sz="12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Isso significa que, ao entrar em contato com a agência bancária ou mesmo via WhatsApp, 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o beneficiário já é atendido com base em informações previamente validadas</a:t>
            </a: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, tornando o processo mais simples, rápido e confiável.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O usuário final se beneficia de uma 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experiência fluida, </a:t>
            </a:r>
            <a:b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com menos burocracia e maior conveniência</a:t>
            </a: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, enquanto o sistema garante integridade e segurança nos pagamentos.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/>
        </p:nvSpPr>
        <p:spPr>
          <a:xfrm>
            <a:off x="695087" y="565428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695087" y="1409081"/>
            <a:ext cx="23007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1418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Serviços:</a:t>
            </a:r>
            <a:endParaRPr sz="1418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695087" y="1841316"/>
            <a:ext cx="18768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18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VALIDAÇÃO CARTORÁRIA</a:t>
            </a:r>
            <a:endParaRPr sz="918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699096" y="1248641"/>
            <a:ext cx="737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Assinatura por volume de consultas realizadas + taxa fixa por implementação inicial e suporte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781106" y="2817227"/>
            <a:ext cx="16650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Validação Cadastral PF (óbito).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2611162" y="1829284"/>
            <a:ext cx="18768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18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PROVA DE VIDA SIMPLIFICADA</a:t>
            </a:r>
            <a:endParaRPr sz="918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2697181" y="2817229"/>
            <a:ext cx="16650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</a:t>
            </a:r>
            <a:r>
              <a:rPr lang="pt-BR"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</a:t>
            </a:r>
            <a:r>
              <a:rPr lang="pt-BR" sz="9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Antispoofing</a:t>
            </a:r>
            <a:r>
              <a:rPr lang="pt-BR"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Face match 1:N</a:t>
            </a:r>
            <a:endParaRPr sz="9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4522582" y="1829286"/>
            <a:ext cx="20325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18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PROVA DE VIDA COM VALIDAÇÃO DE INFORMAÇÕES CADASTRAIS</a:t>
            </a:r>
            <a:endParaRPr sz="918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4608606" y="2817223"/>
            <a:ext cx="16650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 e Antispoofing Face match 1:N 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Validação de Informações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6427907" y="1829286"/>
            <a:ext cx="21861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18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PROVA DE VIDA COM  VALIDAÇÃO DE INFORMAÇÕES CADASTRAIS E CARTORÁRIAS (ÓBITO)</a:t>
            </a:r>
            <a:endParaRPr sz="918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6513931" y="2817223"/>
            <a:ext cx="1665000" cy="12786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 e Antispoofing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Face match 1:N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Validação de Informações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Validação Cadastral PF (óbito).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grpSp>
        <p:nvGrpSpPr>
          <p:cNvPr id="299" name="Google Shape;299;p31"/>
          <p:cNvGrpSpPr/>
          <p:nvPr/>
        </p:nvGrpSpPr>
        <p:grpSpPr>
          <a:xfrm>
            <a:off x="389713" y="22001"/>
            <a:ext cx="8364574" cy="676935"/>
            <a:chOff x="231075" y="-93402"/>
            <a:chExt cx="8698600" cy="703968"/>
          </a:xfrm>
        </p:grpSpPr>
        <p:sp>
          <p:nvSpPr>
            <p:cNvPr id="300" name="Google Shape;300;p31"/>
            <p:cNvSpPr txBox="1"/>
            <p:nvPr/>
          </p:nvSpPr>
          <p:spPr>
            <a:xfrm>
              <a:off x="7134775" y="-93402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PROVA 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DE VIDA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301" name="Google Shape;301;p31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2" name="Google Shape;302;p31"/>
            <p:cNvCxnSpPr/>
            <p:nvPr/>
          </p:nvCxnSpPr>
          <p:spPr>
            <a:xfrm>
              <a:off x="638828" y="328075"/>
              <a:ext cx="67050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3" name="Google Shape;303;p31"/>
          <p:cNvSpPr txBox="1"/>
          <p:nvPr/>
        </p:nvSpPr>
        <p:spPr>
          <a:xfrm>
            <a:off x="695087" y="3827561"/>
            <a:ext cx="16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SIM/NÃO</a:t>
            </a:r>
            <a:endParaRPr sz="12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4" name="Google Shape;304;p31"/>
          <p:cNvSpPr txBox="1"/>
          <p:nvPr/>
        </p:nvSpPr>
        <p:spPr>
          <a:xfrm>
            <a:off x="2647868" y="3827561"/>
            <a:ext cx="16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Score</a:t>
            </a:r>
            <a:endParaRPr sz="12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4534614" y="3837760"/>
            <a:ext cx="16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Score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6427907" y="4207060"/>
            <a:ext cx="16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Score + SIM/NÃO</a:t>
            </a:r>
            <a:endParaRPr sz="120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07" name="Google Shape;307;p31" title="Padonagem 2 B.png"/>
          <p:cNvPicPr preferRelativeResize="0"/>
          <p:nvPr/>
        </p:nvPicPr>
        <p:blipFill rotWithShape="1">
          <a:blip r:embed="rId4">
            <a:alphaModFix amt="70000"/>
          </a:blip>
          <a:srcRect/>
          <a:stretch/>
        </p:blipFill>
        <p:spPr>
          <a:xfrm flipH="1">
            <a:off x="-809800" y="4022410"/>
            <a:ext cx="4502164" cy="46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2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1415250" y="635850"/>
            <a:ext cx="6844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SEGURANÇA </a:t>
            </a:r>
            <a:r>
              <a:rPr lang="pt-BR" sz="480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DIGITAL</a:t>
            </a:r>
            <a:endParaRPr sz="480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314" name="Google Shape;314;p32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 txBox="1"/>
          <p:nvPr/>
        </p:nvSpPr>
        <p:spPr>
          <a:xfrm>
            <a:off x="891650" y="1534917"/>
            <a:ext cx="7367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Monitoramento, biometria e análise de risco.</a:t>
            </a:r>
            <a:endParaRPr sz="15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3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240950" y="2156470"/>
            <a:ext cx="7367700" cy="7667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33"/>
          <p:cNvGrpSpPr/>
          <p:nvPr/>
        </p:nvGrpSpPr>
        <p:grpSpPr>
          <a:xfrm>
            <a:off x="389713" y="14669"/>
            <a:ext cx="8364574" cy="676935"/>
            <a:chOff x="231075" y="-101027"/>
            <a:chExt cx="8698600" cy="703968"/>
          </a:xfrm>
        </p:grpSpPr>
        <p:sp>
          <p:nvSpPr>
            <p:cNvPr id="322" name="Google Shape;322;p33"/>
            <p:cNvSpPr txBox="1"/>
            <p:nvPr/>
          </p:nvSpPr>
          <p:spPr>
            <a:xfrm>
              <a:off x="6579175" y="-101027"/>
              <a:ext cx="23505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SEGURANÇA 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DIGITAL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323" name="Google Shape;323;p33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4" name="Google Shape;324;p33"/>
            <p:cNvCxnSpPr/>
            <p:nvPr/>
          </p:nvCxnSpPr>
          <p:spPr>
            <a:xfrm>
              <a:off x="638828" y="328075"/>
              <a:ext cx="61827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5" name="Google Shape;325;p33"/>
          <p:cNvSpPr txBox="1"/>
          <p:nvPr/>
        </p:nvSpPr>
        <p:spPr>
          <a:xfrm>
            <a:off x="812925" y="1189025"/>
            <a:ext cx="3417000" cy="1705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10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Proteger a organização contra perdas financeiras, riscos reputacionais e violações regulatórias, garantindo a segurança de transações, processos e dados. Essa proteção se dá por meio da </a:t>
            </a:r>
            <a:r>
              <a:rPr lang="pt-BR" sz="110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prevenção, identificação e mitigação de atividades fraudulentas.</a:t>
            </a:r>
            <a:endParaRPr sz="110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4332875" y="1273717"/>
            <a:ext cx="14196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Prevenção</a:t>
            </a:r>
            <a:endParaRPr sz="115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4332875" y="1717542"/>
            <a:ext cx="14196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Detecção</a:t>
            </a:r>
            <a:endParaRPr sz="115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4332875" y="2161367"/>
            <a:ext cx="1419600" cy="3186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0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850" tIns="76850" rIns="76850" bIns="7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Mitigação</a:t>
            </a:r>
            <a:endParaRPr sz="115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5962600" y="1070682"/>
            <a:ext cx="2368500" cy="7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Análise Preditiva</a:t>
            </a:r>
            <a:endParaRPr sz="11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5819725" y="1273717"/>
            <a:ext cx="154200" cy="318600"/>
          </a:xfrm>
          <a:prstGeom prst="chevron">
            <a:avLst>
              <a:gd name="adj" fmla="val 50000"/>
            </a:avLst>
          </a:prstGeom>
          <a:solidFill>
            <a:srgbClr val="EEF1F0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3"/>
          <p:cNvSpPr txBox="1"/>
          <p:nvPr/>
        </p:nvSpPr>
        <p:spPr>
          <a:xfrm>
            <a:off x="5962600" y="1507761"/>
            <a:ext cx="2368500" cy="7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Identificação em tempo real</a:t>
            </a:r>
            <a:endParaRPr sz="11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5819725" y="1722117"/>
            <a:ext cx="154200" cy="318600"/>
          </a:xfrm>
          <a:prstGeom prst="chevron">
            <a:avLst>
              <a:gd name="adj" fmla="val 50000"/>
            </a:avLst>
          </a:prstGeom>
          <a:solidFill>
            <a:srgbClr val="EEF1F0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3"/>
          <p:cNvSpPr txBox="1"/>
          <p:nvPr/>
        </p:nvSpPr>
        <p:spPr>
          <a:xfrm>
            <a:off x="5962600" y="1951594"/>
            <a:ext cx="2368500" cy="7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1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Bloqueio e revisão automática</a:t>
            </a:r>
            <a:endParaRPr sz="11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5819725" y="2165942"/>
            <a:ext cx="154200" cy="318600"/>
          </a:xfrm>
          <a:prstGeom prst="chevron">
            <a:avLst>
              <a:gd name="adj" fmla="val 50000"/>
            </a:avLst>
          </a:prstGeom>
          <a:solidFill>
            <a:srgbClr val="EEF1F0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899892" y="3051175"/>
            <a:ext cx="10398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Captura 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de dados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Biométricos e Transacionais</a:t>
            </a:r>
            <a:endParaRPr sz="9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1822969" y="3343525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2061142" y="3051175"/>
            <a:ext cx="10398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Validação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Inicial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Bureaus</a:t>
            </a:r>
            <a:r>
              <a:rPr lang="pt-BR"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Bases Internas</a:t>
            </a:r>
            <a:endParaRPr sz="9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2984219" y="3343525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3222392" y="3051175"/>
            <a:ext cx="10398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Análise </a:t>
            </a:r>
            <a:b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de Risco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Telemetria e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Contexto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4145469" y="3343525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3"/>
          <p:cNvSpPr/>
          <p:nvPr/>
        </p:nvSpPr>
        <p:spPr>
          <a:xfrm>
            <a:off x="4383642" y="3051175"/>
            <a:ext cx="11892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Detecção de Anomalias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Machine Learning e Regras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5470166" y="3343525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5694292" y="3051175"/>
            <a:ext cx="10398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Ação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Bloqueio, alerta ou aprovação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6617369" y="3343525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3"/>
          <p:cNvSpPr/>
          <p:nvPr/>
        </p:nvSpPr>
        <p:spPr>
          <a:xfrm>
            <a:off x="6855542" y="3051175"/>
            <a:ext cx="11892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Monitoramento</a:t>
            </a:r>
            <a:endParaRPr sz="9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Contínuo</a:t>
            </a:r>
            <a:endParaRPr sz="9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Revisão e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Aprendizado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/>
        </p:nvSpPr>
        <p:spPr>
          <a:xfrm>
            <a:off x="695655" y="541364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695655" y="1429714"/>
            <a:ext cx="23007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1418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Serviços:</a:t>
            </a:r>
            <a:endParaRPr sz="1418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695655" y="1225154"/>
            <a:ext cx="737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Volume de consultas realizadas ou pacote de segurança customizável por cliente + taxa fixa por implementação inicial e suporte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53" name="Google Shape;353;p34"/>
          <p:cNvGrpSpPr/>
          <p:nvPr/>
        </p:nvGrpSpPr>
        <p:grpSpPr>
          <a:xfrm>
            <a:off x="389713" y="20178"/>
            <a:ext cx="8352570" cy="676935"/>
            <a:chOff x="231075" y="-95298"/>
            <a:chExt cx="8686117" cy="703968"/>
          </a:xfrm>
        </p:grpSpPr>
        <p:sp>
          <p:nvSpPr>
            <p:cNvPr id="354" name="Google Shape;354;p34"/>
            <p:cNvSpPr txBox="1"/>
            <p:nvPr/>
          </p:nvSpPr>
          <p:spPr>
            <a:xfrm>
              <a:off x="6566692" y="-95298"/>
              <a:ext cx="23505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SEGURANÇA 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DIGITAL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355" name="Google Shape;355;p34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6" name="Google Shape;356;p34"/>
            <p:cNvCxnSpPr/>
            <p:nvPr/>
          </p:nvCxnSpPr>
          <p:spPr>
            <a:xfrm>
              <a:off x="638828" y="328075"/>
              <a:ext cx="61827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7" name="Google Shape;357;p34"/>
          <p:cNvSpPr txBox="1"/>
          <p:nvPr/>
        </p:nvSpPr>
        <p:spPr>
          <a:xfrm>
            <a:off x="695655" y="1859611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OFD (Online </a:t>
            </a:r>
            <a:r>
              <a:rPr lang="pt-BR" sz="900" dirty="0" err="1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Fraud</a:t>
            </a:r>
            <a:r>
              <a:rPr lang="pt-BR" sz="9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r>
              <a:rPr lang="pt-BR" sz="900" dirty="0" err="1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Detection</a:t>
            </a:r>
            <a:r>
              <a:rPr lang="pt-BR" sz="9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)</a:t>
            </a:r>
            <a:endParaRPr sz="9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780606" y="2676690"/>
            <a:ext cx="1297500" cy="15366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Machine learning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Análise comportamental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Biometria comportamental de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geolocalização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Processamento de dados em tempo real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59" name="Google Shape;359;p34"/>
          <p:cNvSpPr txBox="1"/>
          <p:nvPr/>
        </p:nvSpPr>
        <p:spPr>
          <a:xfrm>
            <a:off x="2138178" y="1865380"/>
            <a:ext cx="1876800" cy="7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BIOMETRIAS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2254870" y="2504402"/>
            <a:ext cx="2453700" cy="226959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Componente de captura de imagem (facial) com segurança contra injeção de dados;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Validação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template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facial com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bureaus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bases;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Matching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de faces;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Antispoofing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facial;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Componente de captura de  imagem (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fingerprint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) com segurança contra injeção de dados;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6. Validação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template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fingerprint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com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bureaus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bases;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7.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Matching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fingerprints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8.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Antispoofing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fingerprint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.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61" name="Google Shape;361;p34"/>
          <p:cNvSpPr txBox="1"/>
          <p:nvPr/>
        </p:nvSpPr>
        <p:spPr>
          <a:xfrm>
            <a:off x="4770862" y="1865380"/>
            <a:ext cx="1876800" cy="7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ANÁLISE DE RISCO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62" name="Google Shape;362;p34"/>
          <p:cNvSpPr/>
          <p:nvPr/>
        </p:nvSpPr>
        <p:spPr>
          <a:xfrm>
            <a:off x="4885334" y="2504402"/>
            <a:ext cx="1390200" cy="11724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SMV – Silent mobile verification;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Telemetria de dispositivos;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Motor de avaliação de risco, contexto e geolocalização.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6428475" y="1865382"/>
            <a:ext cx="20400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DETECÇÃO COMPORTAMENTAL E ANTIFRAUDE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6494075" y="2694423"/>
            <a:ext cx="1665000" cy="2161047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Validação de dados;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Identificação de indícios de fraude transacional em tempo real, com análise de comportamento e aprendizado de máquina;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Detecção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mule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account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(conta mula);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Biometria comportamental;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Biometria de contexto com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geolocalização;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6. Monitoramento de transação de negócio e revisão de alertas.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5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151" y="2239969"/>
            <a:ext cx="7173173" cy="746477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5"/>
          <p:cNvSpPr txBox="1"/>
          <p:nvPr/>
        </p:nvSpPr>
        <p:spPr>
          <a:xfrm>
            <a:off x="2515350" y="635850"/>
            <a:ext cx="5744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ONBOARDING</a:t>
            </a:r>
            <a:endParaRPr sz="4800">
              <a:solidFill>
                <a:srgbClr val="D98E06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371" name="Google Shape;371;p35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 txBox="1"/>
          <p:nvPr/>
        </p:nvSpPr>
        <p:spPr>
          <a:xfrm>
            <a:off x="2712050" y="1498821"/>
            <a:ext cx="554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Aquisição de clientes com menos atrito e mais conversão.</a:t>
            </a:r>
            <a:endParaRPr sz="1500" dirty="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6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0276" y="3340601"/>
            <a:ext cx="6357201" cy="661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6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049" y="555860"/>
            <a:ext cx="6357201" cy="661564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6"/>
          <p:cNvSpPr txBox="1"/>
          <p:nvPr/>
        </p:nvSpPr>
        <p:spPr>
          <a:xfrm>
            <a:off x="672850" y="960113"/>
            <a:ext cx="6090900" cy="197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Trata-se de uma solução personalizada e escalável, pensada para facilitar a integração de novos clientes, colaboradores ou parceiros de forma ágil, segura </a:t>
            </a:r>
            <a:b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 eficiente.</a:t>
            </a:r>
            <a:endParaRPr sz="12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 </a:t>
            </a:r>
            <a:r>
              <a:rPr lang="pt-BR" sz="12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foco na experiência</a:t>
            </a:r>
            <a: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o serviço garante processos mais fluidos, redução de etapas manuais e maior assertividade, contribuindo diretamente para o aumento da satisfação, produtividade e retenção desde o primeiro contato.</a:t>
            </a:r>
            <a:endParaRPr sz="12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80" name="Google Shape;380;p36"/>
          <p:cNvGrpSpPr/>
          <p:nvPr/>
        </p:nvGrpSpPr>
        <p:grpSpPr>
          <a:xfrm>
            <a:off x="389713" y="12032"/>
            <a:ext cx="8364574" cy="676935"/>
            <a:chOff x="231075" y="-103770"/>
            <a:chExt cx="8698600" cy="703968"/>
          </a:xfrm>
        </p:grpSpPr>
        <p:sp>
          <p:nvSpPr>
            <p:cNvPr id="381" name="Google Shape;381;p36"/>
            <p:cNvSpPr txBox="1"/>
            <p:nvPr/>
          </p:nvSpPr>
          <p:spPr>
            <a:xfrm>
              <a:off x="7134775" y="-103770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ONBOARDING</a:t>
              </a:r>
              <a:endParaRPr sz="1300" dirty="0">
                <a:solidFill>
                  <a:srgbClr val="D98E06"/>
                </a:solidFill>
                <a:latin typeface="Manrope ExtraLight"/>
                <a:ea typeface="Manrope ExtraLight"/>
                <a:cs typeface="Manrope ExtraLight"/>
                <a:sym typeface="Manrope ExtraLight"/>
              </a:endParaRPr>
            </a:p>
          </p:txBody>
        </p:sp>
        <p:pic>
          <p:nvPicPr>
            <p:cNvPr id="382" name="Google Shape;382;p36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83" name="Google Shape;383;p36"/>
            <p:cNvCxnSpPr/>
            <p:nvPr/>
          </p:nvCxnSpPr>
          <p:spPr>
            <a:xfrm>
              <a:off x="638828" y="328075"/>
              <a:ext cx="69027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4" name="Google Shape;384;p36"/>
          <p:cNvSpPr/>
          <p:nvPr/>
        </p:nvSpPr>
        <p:spPr>
          <a:xfrm>
            <a:off x="739592" y="2912750"/>
            <a:ext cx="10398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Regras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Negociais</a:t>
            </a:r>
            <a:endParaRPr sz="115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Necessidade do Cliente</a:t>
            </a:r>
            <a:endParaRPr sz="9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1662669" y="3205100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1900854" y="2912750"/>
            <a:ext cx="16107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Alta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Tecnologia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Disponibilidade das melhores tecnologias e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serviços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3406744" y="3205100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3659501" y="2912750"/>
            <a:ext cx="11892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Jornadas do Cliente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Adaptação à jornada de cada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cliente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4744881" y="3205100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4988275" y="2912750"/>
            <a:ext cx="14112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Obtenção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de Dados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Input e possibilidade de cruzamento de dados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6300653" y="3205100"/>
            <a:ext cx="198600" cy="318600"/>
          </a:xfrm>
          <a:prstGeom prst="chevron">
            <a:avLst>
              <a:gd name="adj" fmla="val 50000"/>
            </a:avLst>
          </a:prstGeom>
          <a:solidFill>
            <a:srgbClr val="D98E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6"/>
          <p:cNvSpPr/>
          <p:nvPr/>
        </p:nvSpPr>
        <p:spPr>
          <a:xfrm>
            <a:off x="6539049" y="2912750"/>
            <a:ext cx="1295400" cy="9033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Backoffice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Analítico</a:t>
            </a:r>
            <a:endParaRPr sz="1150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Plataforma com Dashboards e Relatórios</a:t>
            </a:r>
            <a:endParaRPr sz="9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/>
        </p:nvSpPr>
        <p:spPr>
          <a:xfrm>
            <a:off x="695655" y="613525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683129" y="1434789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Serviços:</a:t>
            </a:r>
            <a:endParaRPr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695655" y="1891088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VALIDAÇÃO DE </a:t>
            </a:r>
            <a:b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</a:b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IDENTIDADE</a:t>
            </a:r>
            <a:endParaRPr sz="90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pSp>
        <p:nvGrpSpPr>
          <p:cNvPr id="400" name="Google Shape;400;p37"/>
          <p:cNvGrpSpPr/>
          <p:nvPr/>
        </p:nvGrpSpPr>
        <p:grpSpPr>
          <a:xfrm>
            <a:off x="389713" y="298727"/>
            <a:ext cx="6543065" cy="257132"/>
            <a:chOff x="231075" y="194375"/>
            <a:chExt cx="6804353" cy="267400"/>
          </a:xfrm>
        </p:grpSpPr>
        <p:pic>
          <p:nvPicPr>
            <p:cNvPr id="401" name="Google Shape;401;p37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2" name="Google Shape;402;p37"/>
            <p:cNvCxnSpPr/>
            <p:nvPr/>
          </p:nvCxnSpPr>
          <p:spPr>
            <a:xfrm>
              <a:off x="638828" y="328075"/>
              <a:ext cx="63966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3" name="Google Shape;403;p37"/>
          <p:cNvSpPr txBox="1"/>
          <p:nvPr/>
        </p:nvSpPr>
        <p:spPr>
          <a:xfrm>
            <a:off x="695655" y="1290351"/>
            <a:ext cx="737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Volume de consultas realizadas + taxa fixa por implementação inicial e suporte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781808" y="2686714"/>
            <a:ext cx="1665000" cy="20982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Validação de documento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de identificação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Documentoscopia com SDK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Componente de captura de imagem (facial) com segurança contra injeção de dados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Validação de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template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facial com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bureaus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b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</a:b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 bases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Matching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biométrico de faces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6.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Antispoofing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e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liveness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facial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05" name="Google Shape;405;p37"/>
          <p:cNvSpPr txBox="1"/>
          <p:nvPr/>
        </p:nvSpPr>
        <p:spPr>
          <a:xfrm>
            <a:off x="2611730" y="1891088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VALIDAÇÃO DE CONTATO E LOCALIZAÇÃO</a:t>
            </a:r>
            <a:endParaRPr sz="90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2697871" y="2686714"/>
            <a:ext cx="1665000" cy="14649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Validação de número de telefone celular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Validação de endereço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Validação e identificação de email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Pacote de informações de telefone e email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07" name="Google Shape;407;p37"/>
          <p:cNvSpPr txBox="1"/>
          <p:nvPr/>
        </p:nvSpPr>
        <p:spPr>
          <a:xfrm>
            <a:off x="4523158" y="1891088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DADOS PESSOAIS COMPLEMENTARES</a:t>
            </a:r>
            <a:endParaRPr sz="90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4609296" y="2686714"/>
            <a:ext cx="1665000" cy="11352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Pacote com informações de CPF, nome, endereço e telefones fixo e celular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Pacotes com informações da mãe, renda, classe social, data de nascimento e gênero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09" name="Google Shape;409;p37"/>
          <p:cNvSpPr txBox="1"/>
          <p:nvPr/>
        </p:nvSpPr>
        <p:spPr>
          <a:xfrm>
            <a:off x="6428482" y="1891088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ANÁLISE FINANCEIRA </a:t>
            </a:r>
            <a:b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</a:br>
            <a:r>
              <a:rPr lang="pt-BR" sz="90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 RISCO</a:t>
            </a:r>
            <a:endParaRPr sz="90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10" name="Google Shape;410;p37"/>
          <p:cNvSpPr/>
          <p:nvPr/>
        </p:nvSpPr>
        <p:spPr>
          <a:xfrm>
            <a:off x="6514621" y="2686714"/>
            <a:ext cx="1665000" cy="14649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Score financeiro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Score de validações cadastrais agregadas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Pacote com informações de score,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email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, óbito, situação de cobrança, CCF, histórico e PPE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Telemetria de dispositivos;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id="411" name="Google Shape;411;p37" title="Padonagem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450" y="3945287"/>
            <a:ext cx="4400049" cy="4578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37"/>
          <p:cNvGrpSpPr/>
          <p:nvPr/>
        </p:nvGrpSpPr>
        <p:grpSpPr>
          <a:xfrm>
            <a:off x="389713" y="26195"/>
            <a:ext cx="8364574" cy="676935"/>
            <a:chOff x="231075" y="-89040"/>
            <a:chExt cx="8698600" cy="703968"/>
          </a:xfrm>
        </p:grpSpPr>
        <p:sp>
          <p:nvSpPr>
            <p:cNvPr id="413" name="Google Shape;413;p37"/>
            <p:cNvSpPr txBox="1"/>
            <p:nvPr/>
          </p:nvSpPr>
          <p:spPr>
            <a:xfrm>
              <a:off x="7134775" y="-89040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ONBOARDING</a:t>
              </a:r>
              <a:endParaRPr sz="1300" dirty="0">
                <a:solidFill>
                  <a:srgbClr val="D98E06"/>
                </a:solidFill>
                <a:latin typeface="Manrope ExtraLight"/>
                <a:ea typeface="Manrope ExtraLight"/>
                <a:cs typeface="Manrope ExtraLight"/>
                <a:sym typeface="Manrope ExtraLight"/>
              </a:endParaRPr>
            </a:p>
          </p:txBody>
        </p:sp>
        <p:pic>
          <p:nvPicPr>
            <p:cNvPr id="414" name="Google Shape;414;p37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5" name="Google Shape;415;p37"/>
            <p:cNvCxnSpPr/>
            <p:nvPr/>
          </p:nvCxnSpPr>
          <p:spPr>
            <a:xfrm>
              <a:off x="638828" y="328075"/>
              <a:ext cx="69027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8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8"/>
          <p:cNvSpPr txBox="1"/>
          <p:nvPr/>
        </p:nvSpPr>
        <p:spPr>
          <a:xfrm>
            <a:off x="2515350" y="635850"/>
            <a:ext cx="5744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AGRO </a:t>
            </a:r>
            <a:r>
              <a:rPr lang="pt-BR" sz="480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DIGITAL</a:t>
            </a:r>
            <a:endParaRPr sz="480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422" name="Google Shape;422;p38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8"/>
          <p:cNvSpPr txBox="1"/>
          <p:nvPr/>
        </p:nvSpPr>
        <p:spPr>
          <a:xfrm>
            <a:off x="891650" y="1510853"/>
            <a:ext cx="7367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Inteligência integrada para o agronegócio.</a:t>
            </a:r>
            <a:endParaRPr sz="15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9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4897125" y="619700"/>
            <a:ext cx="7367700" cy="7667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9" name="Google Shape;429;p39"/>
          <p:cNvGrpSpPr/>
          <p:nvPr/>
        </p:nvGrpSpPr>
        <p:grpSpPr>
          <a:xfrm>
            <a:off x="389713" y="24064"/>
            <a:ext cx="8364574" cy="676935"/>
            <a:chOff x="231075" y="-91258"/>
            <a:chExt cx="8698600" cy="703968"/>
          </a:xfrm>
        </p:grpSpPr>
        <p:sp>
          <p:nvSpPr>
            <p:cNvPr id="430" name="Google Shape;430;p39"/>
            <p:cNvSpPr txBox="1"/>
            <p:nvPr/>
          </p:nvSpPr>
          <p:spPr>
            <a:xfrm>
              <a:off x="7134775" y="-91258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AGRO 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DIGITAL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431" name="Google Shape;431;p39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32" name="Google Shape;432;p39"/>
            <p:cNvCxnSpPr/>
            <p:nvPr/>
          </p:nvCxnSpPr>
          <p:spPr>
            <a:xfrm>
              <a:off x="638828" y="328075"/>
              <a:ext cx="68421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3" name="Google Shape;433;p39"/>
          <p:cNvSpPr txBox="1"/>
          <p:nvPr/>
        </p:nvSpPr>
        <p:spPr>
          <a:xfrm>
            <a:off x="781808" y="750520"/>
            <a:ext cx="3978000" cy="364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Aplicação de tecnologias digitais no agronegócio, proporcionando integração, agilidade e maior capacidade de análise para apoiar a gestão rural.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Conecta dados sobre propriedades, produção e sustentabilidade em tempo real, permitindo tomadas de decisão mais precisas e seguras.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endParaRPr sz="1233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4221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Clr>
                <a:srgbClr val="EEF1F0"/>
              </a:buClr>
              <a:buSzPts val="1033"/>
              <a:buFont typeface="Manrope"/>
              <a:buChar char="➔"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Aumenta a eficiência operacional.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422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1F0"/>
              </a:buClr>
              <a:buSzPts val="1033"/>
              <a:buFont typeface="Manrope"/>
              <a:buChar char="➔"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Melhora a segurança financeira em transações envolvendo propriedades rurais.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422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1F0"/>
              </a:buClr>
              <a:buSzPts val="1033"/>
              <a:buFont typeface="Manrope"/>
              <a:buChar char="➔"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Apoia a sustentabilidade e o cumprimento de regulações ambientais.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29422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1F0"/>
              </a:buClr>
              <a:buSzPts val="1033"/>
              <a:buFont typeface="Manrope"/>
              <a:buChar char="➔"/>
            </a:pP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Reduz riscos relacionados a fraudes,</a:t>
            </a:r>
            <a:b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pt-BR" sz="10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inconsistências de informações e inadimplência.</a:t>
            </a:r>
            <a:endParaRPr sz="10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0"/>
          <p:cNvSpPr txBox="1"/>
          <p:nvPr/>
        </p:nvSpPr>
        <p:spPr>
          <a:xfrm>
            <a:off x="781808" y="602308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39" name="Google Shape;439;p40"/>
          <p:cNvSpPr txBox="1"/>
          <p:nvPr/>
        </p:nvSpPr>
        <p:spPr>
          <a:xfrm>
            <a:off x="781808" y="1445961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Serviços:</a:t>
            </a:r>
            <a:endParaRPr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781808" y="1902260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REGULARIZAÇÃO E DOCUMENTAÇÃO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41" name="Google Shape;441;p40"/>
          <p:cNvSpPr txBox="1"/>
          <p:nvPr/>
        </p:nvSpPr>
        <p:spPr>
          <a:xfrm>
            <a:off x="781808" y="1270687"/>
            <a:ext cx="737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Volume de consultas realizadas + taxa fixa por implementação inicial e suporte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2697883" y="1902260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MONITORAMENTO E GESTÃO DE SAFRAS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4609303" y="1902262"/>
            <a:ext cx="20325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SUSTENTABILIDADE E CONFORMIDADE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pSp>
        <p:nvGrpSpPr>
          <p:cNvPr id="444" name="Google Shape;444;p40"/>
          <p:cNvGrpSpPr/>
          <p:nvPr/>
        </p:nvGrpSpPr>
        <p:grpSpPr>
          <a:xfrm>
            <a:off x="389713" y="14484"/>
            <a:ext cx="8364574" cy="676935"/>
            <a:chOff x="231075" y="-101219"/>
            <a:chExt cx="8698600" cy="703968"/>
          </a:xfrm>
        </p:grpSpPr>
        <p:sp>
          <p:nvSpPr>
            <p:cNvPr id="445" name="Google Shape;445;p40"/>
            <p:cNvSpPr txBox="1"/>
            <p:nvPr/>
          </p:nvSpPr>
          <p:spPr>
            <a:xfrm>
              <a:off x="7134775" y="-101219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AGRO 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DIGITAL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446" name="Google Shape;446;p40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47" name="Google Shape;447;p40"/>
            <p:cNvCxnSpPr/>
            <p:nvPr/>
          </p:nvCxnSpPr>
          <p:spPr>
            <a:xfrm>
              <a:off x="638828" y="328075"/>
              <a:ext cx="68421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8" name="Google Shape;448;p40"/>
          <p:cNvSpPr/>
          <p:nvPr/>
        </p:nvSpPr>
        <p:spPr>
          <a:xfrm>
            <a:off x="867961" y="2707757"/>
            <a:ext cx="1665000" cy="14199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CCIR (Metadados) (CPF/CNPJ)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Imóveis Rurais 3.0 (CPF/CNPJ) -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CAR e SIGEF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CAFIR (Metadados) (CPF/CNPJ)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Certidões e Licenças Ambientais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2784036" y="2707763"/>
            <a:ext cx="1665000" cy="19590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Uso de Solo - Últimos 3 Anos (Área)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Período Recomendado de Plantio ZARC - EMBRAPA/MMA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Análise Histórica (Performance de Safras Passadas - Dados GEO)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Monitoramento de Safra Corrente (Performance e Alertas de Riscos - Dados GEO)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Áreas Irrigadas por Pivot (Área)</a:t>
            </a:r>
            <a:endParaRPr sz="75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4695461" y="2707764"/>
            <a:ext cx="1665000" cy="15729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Moratória da Soja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Monitoramento ESG (Alertas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Diários)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Processos e Protestos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Laudo de Fiscalização e Laudo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de Valorização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Farm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Check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id="451" name="Google Shape;451;p40" title="Padonagem 2 B.png"/>
          <p:cNvPicPr preferRelativeResize="0"/>
          <p:nvPr/>
        </p:nvPicPr>
        <p:blipFill rotWithShape="1">
          <a:blip r:embed="rId4">
            <a:alphaModFix amt="70000"/>
          </a:blip>
          <a:srcRect/>
          <a:stretch/>
        </p:blipFill>
        <p:spPr>
          <a:xfrm>
            <a:off x="6590275" y="719012"/>
            <a:ext cx="7367700" cy="766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1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1525775" y="2433150"/>
            <a:ext cx="7367700" cy="766717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1"/>
          <p:cNvSpPr txBox="1"/>
          <p:nvPr/>
        </p:nvSpPr>
        <p:spPr>
          <a:xfrm>
            <a:off x="1415250" y="635850"/>
            <a:ext cx="6844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INTER</a:t>
            </a:r>
            <a:r>
              <a:rPr lang="pt-BR" sz="480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JUS</a:t>
            </a:r>
            <a:endParaRPr sz="480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458" name="Google Shape;458;p41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1"/>
          <p:cNvSpPr txBox="1"/>
          <p:nvPr/>
        </p:nvSpPr>
        <p:spPr>
          <a:xfrm>
            <a:off x="891650" y="1512829"/>
            <a:ext cx="7367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Monitoramento automatizado de processos judiciais.</a:t>
            </a:r>
            <a:endParaRPr sz="15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42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5421650" y="544775"/>
            <a:ext cx="7367700" cy="7667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42"/>
          <p:cNvGrpSpPr/>
          <p:nvPr/>
        </p:nvGrpSpPr>
        <p:grpSpPr>
          <a:xfrm>
            <a:off x="389713" y="6365"/>
            <a:ext cx="8364574" cy="549494"/>
            <a:chOff x="231075" y="-109661"/>
            <a:chExt cx="8698600" cy="571436"/>
          </a:xfrm>
        </p:grpSpPr>
        <p:sp>
          <p:nvSpPr>
            <p:cNvPr id="466" name="Google Shape;466;p42"/>
            <p:cNvSpPr txBox="1"/>
            <p:nvPr/>
          </p:nvSpPr>
          <p:spPr>
            <a:xfrm>
              <a:off x="7134775" y="-109661"/>
              <a:ext cx="1794900" cy="400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46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INTER</a:t>
              </a:r>
              <a:r>
                <a:rPr lang="pt-BR" sz="1346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JUS</a:t>
              </a:r>
              <a:endParaRPr sz="1346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467" name="Google Shape;467;p42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8" name="Google Shape;468;p42"/>
            <p:cNvCxnSpPr/>
            <p:nvPr/>
          </p:nvCxnSpPr>
          <p:spPr>
            <a:xfrm>
              <a:off x="638828" y="328075"/>
              <a:ext cx="71604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69" name="Google Shape;469;p42"/>
          <p:cNvSpPr txBox="1"/>
          <p:nvPr/>
        </p:nvSpPr>
        <p:spPr>
          <a:xfrm>
            <a:off x="709275" y="1307700"/>
            <a:ext cx="4247700" cy="282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O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Monitoramento Judicial Automatizado</a:t>
            </a: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é um serviço que realiza varreduras diárias em sistemas dos tribunais de todas as esferas, em âmbito nacional,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identificando automaticamente a existência de processos judiciais envolvendo a empresa.</a:t>
            </a:r>
            <a:endParaRPr sz="12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 partir da integração direta com portais, diários e sistemas dos tribunais, a solução permite </a:t>
            </a:r>
            <a:r>
              <a:rPr lang="pt-BR" sz="1200" b="1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acionar rapidamente as áreas responsáveis, evitando perdas financeiras, descumprimento de prazos processuais, riscos reputacionais e sanções legais.</a:t>
            </a:r>
            <a:endParaRPr sz="1200" b="1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"/>
          <p:cNvSpPr txBox="1"/>
          <p:nvPr/>
        </p:nvSpPr>
        <p:spPr>
          <a:xfrm>
            <a:off x="781806" y="518790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75" name="Google Shape;475;p43"/>
          <p:cNvSpPr txBox="1"/>
          <p:nvPr/>
        </p:nvSpPr>
        <p:spPr>
          <a:xfrm>
            <a:off x="781808" y="1399511"/>
            <a:ext cx="2300700" cy="84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</a:t>
            </a:r>
            <a:r>
              <a:rPr lang="pt-BR" sz="1418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:</a:t>
            </a:r>
            <a:endParaRPr sz="1418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76" name="Google Shape;476;p43"/>
          <p:cNvSpPr txBox="1"/>
          <p:nvPr/>
        </p:nvSpPr>
        <p:spPr>
          <a:xfrm>
            <a:off x="781806" y="1214861"/>
            <a:ext cx="737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Volume de consultas realizadas + taxa fixa por implementação inicial e suporte</a:t>
            </a:r>
            <a:endParaRPr sz="1200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77" name="Google Shape;477;p43"/>
          <p:cNvSpPr txBox="1"/>
          <p:nvPr/>
        </p:nvSpPr>
        <p:spPr>
          <a:xfrm>
            <a:off x="781806" y="1855810"/>
            <a:ext cx="1876800" cy="7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PORTAIS E DIÁRIOS</a:t>
            </a:r>
            <a:endParaRPr sz="900" dirty="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866599" y="2605916"/>
            <a:ext cx="2453700" cy="16605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Captura de comunicações processuais via front-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end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nos sistemas dos Tribunais Não Integrados (DJE, DJEM e MNI) com os quais o cliente tenha celebrado convênio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Leitura, pesquisa, identificação e elaboração de recortes de comunicações publicadas em Diários Oficiais, disponibilizadas nos sites dos Tribunais.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479" name="Google Shape;479;p43"/>
          <p:cNvSpPr txBox="1"/>
          <p:nvPr/>
        </p:nvSpPr>
        <p:spPr>
          <a:xfrm>
            <a:off x="3979328" y="1855812"/>
            <a:ext cx="3132900" cy="7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INTEGRAÇÃO DIRETA NOS SISTEMAS JUDICIAIS</a:t>
            </a:r>
            <a:endParaRPr sz="9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4094074" y="2605916"/>
            <a:ext cx="2556900" cy="16605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Consumo de dados e documentos de comunicações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processuais via conexão de Interface de Programação de Aplicativos (APIs).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Diário de Justiça Eletrônica (DJE);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Diário de Justiça Eletrônica Nacional (DJEN)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id="481" name="Google Shape;481;p43" title="Padonagem 2 B.png"/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6650974" y="685445"/>
            <a:ext cx="7367700" cy="7667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43"/>
          <p:cNvGrpSpPr/>
          <p:nvPr/>
        </p:nvGrpSpPr>
        <p:grpSpPr>
          <a:xfrm>
            <a:off x="389713" y="8510"/>
            <a:ext cx="8364574" cy="676935"/>
            <a:chOff x="231075" y="-107431"/>
            <a:chExt cx="8698600" cy="703968"/>
          </a:xfrm>
        </p:grpSpPr>
        <p:sp>
          <p:nvSpPr>
            <p:cNvPr id="483" name="Google Shape;483;p43"/>
            <p:cNvSpPr txBox="1"/>
            <p:nvPr/>
          </p:nvSpPr>
          <p:spPr>
            <a:xfrm>
              <a:off x="7134775" y="-107431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EEF1F0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INTER</a:t>
              </a:r>
              <a:r>
                <a:rPr lang="pt-BR" sz="1300" dirty="0">
                  <a:solidFill>
                    <a:srgbClr val="EFB41B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JUS</a:t>
              </a:r>
              <a:endParaRPr sz="1300" dirty="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484" name="Google Shape;484;p43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5" name="Google Shape;485;p43"/>
            <p:cNvCxnSpPr/>
            <p:nvPr/>
          </p:nvCxnSpPr>
          <p:spPr>
            <a:xfrm>
              <a:off x="638828" y="328075"/>
              <a:ext cx="7160400" cy="0"/>
            </a:xfrm>
            <a:prstGeom prst="straightConnector1">
              <a:avLst/>
            </a:prstGeom>
            <a:noFill/>
            <a:ln w="9150" cap="flat" cmpd="sng">
              <a:solidFill>
                <a:srgbClr val="EEF1F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4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151" y="2227937"/>
            <a:ext cx="7173173" cy="7464776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4"/>
          <p:cNvSpPr txBox="1"/>
          <p:nvPr/>
        </p:nvSpPr>
        <p:spPr>
          <a:xfrm>
            <a:off x="2515350" y="635850"/>
            <a:ext cx="5744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DUE </a:t>
            </a:r>
            <a:r>
              <a:rPr lang="pt-BR" sz="480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DILIGENCE</a:t>
            </a:r>
            <a:endParaRPr sz="4800">
              <a:solidFill>
                <a:srgbClr val="D98E06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492" name="Google Shape;492;p44" title="Icon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2162" y="2571750"/>
            <a:ext cx="443651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4"/>
          <p:cNvSpPr txBox="1"/>
          <p:nvPr/>
        </p:nvSpPr>
        <p:spPr>
          <a:xfrm>
            <a:off x="2712050" y="1487777"/>
            <a:ext cx="554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Due</a:t>
            </a:r>
            <a:r>
              <a:rPr lang="pt-BR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pt-BR" sz="1500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diligence</a:t>
            </a:r>
            <a:r>
              <a:rPr lang="pt-BR" sz="15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e gestão de riscos.</a:t>
            </a:r>
            <a:endParaRPr sz="1500" dirty="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5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524" y="798601"/>
            <a:ext cx="6357201" cy="661564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5"/>
          <p:cNvSpPr txBox="1"/>
          <p:nvPr/>
        </p:nvSpPr>
        <p:spPr>
          <a:xfrm>
            <a:off x="781808" y="899400"/>
            <a:ext cx="4890600" cy="3631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É um serviço </a:t>
            </a:r>
            <a:r>
              <a:rPr lang="pt-BR" sz="13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voltado ao atendimento de demandas relacionadas a processos de </a:t>
            </a:r>
            <a:r>
              <a:rPr lang="pt-BR" sz="1300" b="1" i="1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due</a:t>
            </a:r>
            <a:r>
              <a:rPr lang="pt-BR" sz="1300" b="1" i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pt-BR" sz="1300" b="1" i="1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diligence</a:t>
            </a:r>
            <a:r>
              <a:rPr lang="pt-BR" sz="1300" i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</a:t>
            </a:r>
            <a:r>
              <a:rPr lang="pt-BR" sz="13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oferecendo uma base sólida para decisões gerenciais, operacionais e estratégicas.</a:t>
            </a:r>
            <a:endParaRPr sz="13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 solução disponibiliza informações precisas, confiáveis e extraídas de múltiplas fontes, garantindo segurança, transparência e agilidade na análise.</a:t>
            </a:r>
            <a:endParaRPr sz="13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323"/>
              </a:spcBef>
              <a:spcAft>
                <a:spcPts val="1323"/>
              </a:spcAft>
              <a:buNone/>
            </a:pPr>
            <a:r>
              <a:rPr lang="pt-BR" sz="13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 uma abordagem completa e flexível, contribui para a mitigação de riscos, o aprimoramento da governança e o aumento da assertividade nas tomadas de decisão — tanto em processos de avaliação de parceiros quanto em fusões, aquisições e contratações estratégicas.</a:t>
            </a:r>
            <a:endParaRPr sz="1300"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00" name="Google Shape;500;p45"/>
          <p:cNvGrpSpPr/>
          <p:nvPr/>
        </p:nvGrpSpPr>
        <p:grpSpPr>
          <a:xfrm>
            <a:off x="389713" y="25052"/>
            <a:ext cx="8364574" cy="676935"/>
            <a:chOff x="231075" y="-90230"/>
            <a:chExt cx="8698600" cy="703968"/>
          </a:xfrm>
        </p:grpSpPr>
        <p:sp>
          <p:nvSpPr>
            <p:cNvPr id="501" name="Google Shape;501;p45"/>
            <p:cNvSpPr txBox="1"/>
            <p:nvPr/>
          </p:nvSpPr>
          <p:spPr>
            <a:xfrm>
              <a:off x="7134775" y="-90230"/>
              <a:ext cx="1794900" cy="70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00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DUE </a:t>
              </a:r>
              <a:r>
                <a:rPr lang="pt-BR" sz="1300" dirty="0">
                  <a:solidFill>
                    <a:srgbClr val="D98E0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DILIGENCE</a:t>
              </a:r>
              <a:endParaRPr sz="1300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502" name="Google Shape;502;p45" title="Icon H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3" name="Google Shape;503;p45"/>
            <p:cNvCxnSpPr/>
            <p:nvPr/>
          </p:nvCxnSpPr>
          <p:spPr>
            <a:xfrm>
              <a:off x="638828" y="328075"/>
              <a:ext cx="67587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/>
          <p:nvPr/>
        </p:nvSpPr>
        <p:spPr>
          <a:xfrm>
            <a:off x="695655" y="716471"/>
            <a:ext cx="659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300" dirty="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Modelo de Negócio:</a:t>
            </a:r>
            <a:endParaRPr sz="2300"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09" name="Google Shape;509;p46"/>
          <p:cNvSpPr txBox="1"/>
          <p:nvPr/>
        </p:nvSpPr>
        <p:spPr>
          <a:xfrm>
            <a:off x="695655" y="1560124"/>
            <a:ext cx="2300700" cy="84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Serviços:</a:t>
            </a:r>
            <a:endParaRPr dirty="0">
              <a:solidFill>
                <a:srgbClr val="D98E06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10" name="Google Shape;510;p46"/>
          <p:cNvSpPr txBox="1"/>
          <p:nvPr/>
        </p:nvSpPr>
        <p:spPr>
          <a:xfrm>
            <a:off x="695655" y="1861390"/>
            <a:ext cx="1876800" cy="7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SEND DILIGENCE</a:t>
            </a:r>
            <a:endParaRPr sz="90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pSp>
        <p:nvGrpSpPr>
          <p:cNvPr id="511" name="Google Shape;511;p46"/>
          <p:cNvGrpSpPr/>
          <p:nvPr/>
        </p:nvGrpSpPr>
        <p:grpSpPr>
          <a:xfrm>
            <a:off x="389713" y="298727"/>
            <a:ext cx="6543065" cy="257132"/>
            <a:chOff x="231075" y="194375"/>
            <a:chExt cx="6804353" cy="267400"/>
          </a:xfrm>
        </p:grpSpPr>
        <p:pic>
          <p:nvPicPr>
            <p:cNvPr id="512" name="Google Shape;512;p46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13" name="Google Shape;513;p46"/>
            <p:cNvCxnSpPr/>
            <p:nvPr/>
          </p:nvCxnSpPr>
          <p:spPr>
            <a:xfrm>
              <a:off x="638828" y="328075"/>
              <a:ext cx="63966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4" name="Google Shape;514;p46"/>
          <p:cNvSpPr txBox="1"/>
          <p:nvPr/>
        </p:nvSpPr>
        <p:spPr>
          <a:xfrm>
            <a:off x="695655" y="1359798"/>
            <a:ext cx="737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Volume de consultas realizadas + taxa fixa por implementação inicial e suporte</a:t>
            </a:r>
            <a:endParaRPr sz="12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781808" y="2647584"/>
            <a:ext cx="1665000" cy="19665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Coleta e envio de dados estruturados e não estruturados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Validação e verificação de documentos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Gestão de checklist de documentos obrigatórios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Compartilhamento seguro de informações sensíveis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Controle de prazos e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notificações automáticas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516" name="Google Shape;516;p46"/>
          <p:cNvSpPr txBox="1"/>
          <p:nvPr/>
        </p:nvSpPr>
        <p:spPr>
          <a:xfrm>
            <a:off x="2692215" y="1859305"/>
            <a:ext cx="1876800" cy="91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PLATAFORMA</a:t>
            </a:r>
            <a:b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</a:b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HIVEDILIGENCE</a:t>
            </a:r>
            <a:endParaRPr sz="90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17" name="Google Shape;517;p46"/>
          <p:cNvSpPr/>
          <p:nvPr/>
        </p:nvSpPr>
        <p:spPr>
          <a:xfrm>
            <a:off x="2716699" y="2647584"/>
            <a:ext cx="1665000" cy="20685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Gestão de casos e monitoramento de riscos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Automação de processos e workflows personalizados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Integração com bases de dados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externas (governamentais, financeiras, antifraude)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Relatórios analíticos e dashboards de acompanhamento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Controle de acesso e segurança da informação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518" name="Google Shape;518;p46"/>
          <p:cNvSpPr txBox="1"/>
          <p:nvPr/>
        </p:nvSpPr>
        <p:spPr>
          <a:xfrm>
            <a:off x="4503408" y="1843182"/>
            <a:ext cx="1876800" cy="7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75" tIns="117875" rIns="117875" bIns="1178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320"/>
              </a:spcBef>
              <a:spcAft>
                <a:spcPts val="516"/>
              </a:spcAft>
              <a:buNone/>
            </a:pPr>
            <a:r>
              <a:rPr lang="pt-BR" sz="900" dirty="0">
                <a:solidFill>
                  <a:srgbClr val="5D2E0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ANÁLISES CUSTOMIZADAS</a:t>
            </a:r>
            <a:endParaRPr sz="900" dirty="0">
              <a:solidFill>
                <a:srgbClr val="5D2E07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19" name="Google Shape;519;p46"/>
          <p:cNvSpPr/>
          <p:nvPr/>
        </p:nvSpPr>
        <p:spPr>
          <a:xfrm>
            <a:off x="4609308" y="2647584"/>
            <a:ext cx="1665000" cy="1966500"/>
          </a:xfrm>
          <a:prstGeom prst="roundRect">
            <a:avLst>
              <a:gd name="adj" fmla="val 1668"/>
            </a:avLst>
          </a:prstGeom>
          <a:solidFill>
            <a:srgbClr val="5D2E07"/>
          </a:solidFill>
          <a:ln w="95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1. Avaliação de risco reputacional,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financeiro e regulatório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2. Análise de ESG (Environmental,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Social, Governance)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3.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Due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</a:t>
            </a:r>
            <a:r>
              <a:rPr lang="pt-BR" sz="750" dirty="0" err="1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diligence</a:t>
            </a: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 de terceiros e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fornecedores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4. Investigação aprofundada de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sócios e administradores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 dirty="0">
                <a:solidFill>
                  <a:srgbClr val="EEF1F0"/>
                </a:solidFill>
                <a:latin typeface="Manrope Light"/>
                <a:ea typeface="Manrope Light"/>
                <a:cs typeface="Manrope Light"/>
                <a:sym typeface="Manrope Light"/>
              </a:rPr>
              <a:t>5. Compliance regulatório e setorial</a:t>
            </a:r>
            <a:endParaRPr sz="750" dirty="0">
              <a:solidFill>
                <a:srgbClr val="EEF1F0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id="520" name="Google Shape;520;p46" title="Padonagem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5575" y="882771"/>
            <a:ext cx="5193424" cy="54045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46"/>
          <p:cNvGrpSpPr/>
          <p:nvPr/>
        </p:nvGrpSpPr>
        <p:grpSpPr>
          <a:xfrm>
            <a:off x="389713" y="6365"/>
            <a:ext cx="8543230" cy="549494"/>
            <a:chOff x="231075" y="-109661"/>
            <a:chExt cx="8884390" cy="571436"/>
          </a:xfrm>
        </p:grpSpPr>
        <p:sp>
          <p:nvSpPr>
            <p:cNvPr id="522" name="Google Shape;522;p46"/>
            <p:cNvSpPr txBox="1"/>
            <p:nvPr/>
          </p:nvSpPr>
          <p:spPr>
            <a:xfrm>
              <a:off x="7320565" y="-109661"/>
              <a:ext cx="1794900" cy="400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925" tIns="87925" rIns="87925" bIns="879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1731"/>
                </a:spcBef>
                <a:spcAft>
                  <a:spcPts val="385"/>
                </a:spcAft>
                <a:buNone/>
              </a:pPr>
              <a:r>
                <a:rPr lang="pt-BR" sz="1346" dirty="0">
                  <a:solidFill>
                    <a:srgbClr val="0D0D0E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DUE </a:t>
              </a:r>
              <a:r>
                <a:rPr lang="pt-BR" sz="1346" dirty="0">
                  <a:solidFill>
                    <a:srgbClr val="D98E06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DILIGENCE</a:t>
              </a:r>
              <a:endParaRPr sz="1346" dirty="0">
                <a:solidFill>
                  <a:srgbClr val="D98E06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pic>
          <p:nvPicPr>
            <p:cNvPr id="523" name="Google Shape;523;p46" title="Icon H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1075" y="194375"/>
              <a:ext cx="230650" cy="267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24" name="Google Shape;524;p46"/>
            <p:cNvCxnSpPr/>
            <p:nvPr/>
          </p:nvCxnSpPr>
          <p:spPr>
            <a:xfrm>
              <a:off x="638828" y="328075"/>
              <a:ext cx="6758700" cy="0"/>
            </a:xfrm>
            <a:prstGeom prst="straightConnector1">
              <a:avLst/>
            </a:prstGeom>
            <a:noFill/>
            <a:ln w="9150" cap="flat" cmpd="sng">
              <a:solidFill>
                <a:srgbClr val="5D2E0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2528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7" title="Padronagem 1 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571" y="62825"/>
            <a:ext cx="6485373" cy="65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7"/>
          <p:cNvSpPr txBox="1"/>
          <p:nvPr/>
        </p:nvSpPr>
        <p:spPr>
          <a:xfrm>
            <a:off x="532150" y="991425"/>
            <a:ext cx="36525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2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Parceiros </a:t>
            </a:r>
            <a:br>
              <a:rPr lang="pt-BR" sz="2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</a:br>
            <a:r>
              <a:rPr lang="pt-BR" sz="2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 </a:t>
            </a:r>
            <a:r>
              <a:rPr lang="pt-BR" sz="280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fortalecem </a:t>
            </a:r>
            <a:r>
              <a:rPr lang="pt-BR" sz="2800">
                <a:solidFill>
                  <a:srgbClr val="EEF1F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nosso ecossistema</a:t>
            </a:r>
            <a:endParaRPr sz="2800">
              <a:solidFill>
                <a:srgbClr val="EEF1F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31" name="Google Shape;531;p47"/>
          <p:cNvSpPr txBox="1"/>
          <p:nvPr/>
        </p:nvSpPr>
        <p:spPr>
          <a:xfrm>
            <a:off x="532150" y="2547975"/>
            <a:ext cx="34995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12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A </a:t>
            </a:r>
            <a:r>
              <a:rPr lang="pt-BR" sz="1212" dirty="0" err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HIVEPlace</a:t>
            </a:r>
            <a:r>
              <a:rPr lang="pt-BR" sz="1212" dirty="0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 conecta as melhores tecnologias disponíveis no mercado para entregar a solução certa para cada desafio.</a:t>
            </a:r>
            <a:endParaRPr sz="1212" dirty="0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2" name="Google Shape;532;p47"/>
          <p:cNvSpPr txBox="1"/>
          <p:nvPr/>
        </p:nvSpPr>
        <p:spPr>
          <a:xfrm>
            <a:off x="532150" y="3316275"/>
            <a:ext cx="34995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100" tIns="109100" rIns="109100" bIns="1091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12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SEM LOCK-IN.</a:t>
            </a:r>
            <a:endParaRPr sz="1212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12" b="1">
                <a:solidFill>
                  <a:srgbClr val="EEF1F0"/>
                </a:solidFill>
                <a:latin typeface="Manrope"/>
                <a:ea typeface="Manrope"/>
                <a:cs typeface="Manrope"/>
                <a:sym typeface="Manrope"/>
              </a:rPr>
              <a:t>SEM DEPENDÊNCIA.</a:t>
            </a:r>
            <a:endParaRPr sz="1212" b="1">
              <a:solidFill>
                <a:srgbClr val="EEF1F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12" b="1">
                <a:solidFill>
                  <a:srgbClr val="EFB41B"/>
                </a:solidFill>
                <a:latin typeface="Manrope"/>
                <a:ea typeface="Manrope"/>
                <a:cs typeface="Manrope"/>
                <a:sym typeface="Manrope"/>
              </a:rPr>
              <a:t>SEM LIMITAÇÕES ARTIFICIAIS.</a:t>
            </a:r>
            <a:endParaRPr sz="1212" b="1">
              <a:solidFill>
                <a:srgbClr val="EFB41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3" name="Google Shape;533;p47"/>
          <p:cNvSpPr/>
          <p:nvPr/>
        </p:nvSpPr>
        <p:spPr>
          <a:xfrm rot="-5400000">
            <a:off x="4344300" y="343800"/>
            <a:ext cx="5143500" cy="44559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EEF1F0"/>
          </a:solidFill>
          <a:ln w="882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4650" tIns="84650" rIns="84650" bIns="84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96"/>
          </a:p>
        </p:txBody>
      </p:sp>
      <p:pic>
        <p:nvPicPr>
          <p:cNvPr id="534" name="Google Shape;534;p47" title="[jusbrasil]-principal-cor-positiva-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838" y="1182532"/>
            <a:ext cx="1328404" cy="480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9440" y="1310293"/>
            <a:ext cx="829629" cy="224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7" title="copy_of_Marcasemtaglinepositiv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7936" y="1802506"/>
            <a:ext cx="966472" cy="30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7" title="ELO_Marca_principal_RGB-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9621" y="1851819"/>
            <a:ext cx="829628" cy="257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7" title="Group 1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14256" y="4130077"/>
            <a:ext cx="480005" cy="48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7" title="ibm-logo-1891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97936" y="2846387"/>
            <a:ext cx="754308" cy="278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7" title="icons8-aws-logo-9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28445" y="2687419"/>
            <a:ext cx="596398" cy="596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7" title="id5JDtjp9z_1783114487476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82624" y="2322221"/>
            <a:ext cx="1718587" cy="318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7"/>
          <p:cNvPicPr preferRelativeResize="0"/>
          <p:nvPr/>
        </p:nvPicPr>
        <p:blipFill rotWithShape="1">
          <a:blip r:embed="rId12">
            <a:alphaModFix/>
          </a:blip>
          <a:srcRect l="10263" t="28295" r="9371" b="25470"/>
          <a:stretch/>
        </p:blipFill>
        <p:spPr>
          <a:xfrm>
            <a:off x="7404577" y="2322219"/>
            <a:ext cx="1353708" cy="318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64471" y="1851825"/>
            <a:ext cx="1369626" cy="30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7" title="LOGO_B3-PROFUND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23073" y="2745611"/>
            <a:ext cx="480005" cy="48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7" title="logo_NUCLEA_PRETO-1024x374-1 1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656113" y="3235138"/>
            <a:ext cx="1024630" cy="37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7" title="logo-5 1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934820" y="3683366"/>
            <a:ext cx="2038863" cy="306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767978" y="1134362"/>
            <a:ext cx="1024626" cy="57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7" title="Mastercard-logo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41475" y="522359"/>
            <a:ext cx="749040" cy="54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065466" y="3261059"/>
            <a:ext cx="1024625" cy="40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7" title="unico-color 1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301042" y="2883567"/>
            <a:ext cx="947678" cy="20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0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48" title="Padonagem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67449" y="12"/>
            <a:ext cx="7173173" cy="746477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8"/>
          <p:cNvSpPr txBox="1"/>
          <p:nvPr/>
        </p:nvSpPr>
        <p:spPr>
          <a:xfrm>
            <a:off x="2703975" y="902550"/>
            <a:ext cx="57441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BR" sz="4800">
                <a:solidFill>
                  <a:srgbClr val="0D0D0E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 FUTURO SERÁ </a:t>
            </a:r>
            <a:r>
              <a:rPr lang="pt-BR" sz="4800">
                <a:solidFill>
                  <a:srgbClr val="EFB41B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INTEROPERÁVEL</a:t>
            </a:r>
            <a:endParaRPr sz="480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sp>
        <p:nvSpPr>
          <p:cNvPr id="557" name="Google Shape;557;p48"/>
          <p:cNvSpPr txBox="1"/>
          <p:nvPr/>
        </p:nvSpPr>
        <p:spPr>
          <a:xfrm>
            <a:off x="3338775" y="2627850"/>
            <a:ext cx="5109300" cy="16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As organizações que liderarão a próxima década não serão aquelas com mais sistemas. Serão aquelas capazes de conectar melhor seus ecossistemas. </a:t>
            </a:r>
            <a:endParaRPr sz="13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 </a:t>
            </a:r>
            <a:r>
              <a:rPr lang="pt-BR" sz="1300" b="1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HIVEPlace</a:t>
            </a:r>
            <a:r>
              <a:rPr lang="pt-BR" sz="13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existe para tornar essa transformação possível.</a:t>
            </a:r>
            <a:endParaRPr sz="1300"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E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49" title="Padonagem 2 B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2967925" y="-4370250"/>
            <a:ext cx="8344950" cy="868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9" title="Logo H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414" y="1266724"/>
            <a:ext cx="6174351" cy="1546607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9"/>
          <p:cNvSpPr txBox="1"/>
          <p:nvPr/>
        </p:nvSpPr>
        <p:spPr>
          <a:xfrm>
            <a:off x="2365867" y="2547266"/>
            <a:ext cx="5081679" cy="68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750" tIns="84750" rIns="84750" bIns="8475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69"/>
              </a:spcBef>
              <a:spcAft>
                <a:spcPts val="371"/>
              </a:spcAft>
              <a:buNone/>
            </a:pPr>
            <a:r>
              <a:rPr lang="pt-BR" sz="1391" dirty="0">
                <a:solidFill>
                  <a:srgbClr val="EEF1F0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Transformando conexões invisíveis em </a:t>
            </a:r>
            <a:r>
              <a:rPr lang="pt-BR" sz="1391" dirty="0">
                <a:solidFill>
                  <a:srgbClr val="EFB41B"/>
                </a:solidFill>
                <a:latin typeface="Manrope ExtraLight"/>
                <a:ea typeface="Manrope ExtraLight"/>
                <a:cs typeface="Manrope ExtraLight"/>
                <a:sym typeface="Manrope ExtraLight"/>
              </a:rPr>
              <a:t>inteligência coletiva.</a:t>
            </a:r>
            <a:endParaRPr sz="1483" dirty="0">
              <a:solidFill>
                <a:srgbClr val="EFB41B"/>
              </a:solidFill>
              <a:latin typeface="Manrope ExtraLight"/>
              <a:ea typeface="Manrope ExtraLight"/>
              <a:cs typeface="Manrope ExtraLight"/>
              <a:sym typeface="Manrope ExtraLight"/>
            </a:endParaRPr>
          </a:p>
        </p:txBody>
      </p:sp>
      <p:sp>
        <p:nvSpPr>
          <p:cNvPr id="565" name="Google Shape;565;p49"/>
          <p:cNvSpPr txBox="1"/>
          <p:nvPr/>
        </p:nvSpPr>
        <p:spPr>
          <a:xfrm>
            <a:off x="746274" y="3528189"/>
            <a:ext cx="1250967" cy="64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175" tIns="107175" rIns="107175" bIns="1071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</a:pPr>
            <a:r>
              <a:rPr lang="pt-BR" sz="1407" b="1" dirty="0">
                <a:solidFill>
                  <a:srgbClr val="E6E6E6"/>
                </a:solidFill>
                <a:latin typeface="Manrope"/>
                <a:ea typeface="Manrope"/>
                <a:cs typeface="Manrope"/>
                <a:sym typeface="Manrope"/>
              </a:rPr>
              <a:t>Vamos</a:t>
            </a:r>
            <a:endParaRPr sz="1407" b="1" dirty="0">
              <a:solidFill>
                <a:srgbClr val="E6E6E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</a:pPr>
            <a:r>
              <a:rPr lang="pt-BR" sz="1407" b="1" dirty="0">
                <a:solidFill>
                  <a:srgbClr val="E6E6E6"/>
                </a:solidFill>
                <a:latin typeface="Manrope"/>
                <a:ea typeface="Manrope"/>
                <a:cs typeface="Manrope"/>
                <a:sym typeface="Manrope"/>
              </a:rPr>
              <a:t>conversar.</a:t>
            </a:r>
            <a:endParaRPr sz="1407" i="0" u="none" strike="noStrike" cap="none" dirty="0">
              <a:solidFill>
                <a:srgbClr val="E6E6E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6" name="Google Shape;566;p49"/>
          <p:cNvSpPr txBox="1"/>
          <p:nvPr/>
        </p:nvSpPr>
        <p:spPr>
          <a:xfrm>
            <a:off x="2371174" y="3663574"/>
            <a:ext cx="1888711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175" tIns="107175" rIns="107175" bIns="1071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</a:pPr>
            <a:r>
              <a:rPr lang="pt-BR" sz="1055" b="1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hiveplace@bbts.com.br</a:t>
            </a:r>
            <a:endParaRPr sz="1055" b="1" dirty="0">
              <a:solidFill>
                <a:srgbClr val="E7E7E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67" name="Google Shape;567;p49"/>
          <p:cNvCxnSpPr/>
          <p:nvPr/>
        </p:nvCxnSpPr>
        <p:spPr>
          <a:xfrm>
            <a:off x="2118376" y="3493200"/>
            <a:ext cx="0" cy="719400"/>
          </a:xfrm>
          <a:prstGeom prst="straightConnector1">
            <a:avLst/>
          </a:prstGeom>
          <a:noFill/>
          <a:ln w="11175" cap="flat" cmpd="sng">
            <a:solidFill>
              <a:srgbClr val="EFB41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8" name="Google Shape;568;p49"/>
          <p:cNvSpPr txBox="1"/>
          <p:nvPr/>
        </p:nvSpPr>
        <p:spPr>
          <a:xfrm>
            <a:off x="4377652" y="3501112"/>
            <a:ext cx="188871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175" tIns="107175" rIns="107175" bIns="1071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9"/>
              <a:buFont typeface="Arial"/>
              <a:buNone/>
            </a:pPr>
            <a:r>
              <a:rPr lang="pt-BR" sz="1055" b="1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Thiago Silva </a:t>
            </a:r>
            <a:r>
              <a:rPr lang="pt-BR" sz="1055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thiagosilva@bbts.com.br</a:t>
            </a:r>
            <a:endParaRPr sz="1055" dirty="0">
              <a:solidFill>
                <a:srgbClr val="E7E7E7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9"/>
              <a:buFont typeface="Arial"/>
              <a:buNone/>
            </a:pPr>
            <a:r>
              <a:rPr lang="pt-BR" sz="1055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(61) 9 9932-3837</a:t>
            </a:r>
            <a:endParaRPr sz="1055" i="0" u="none" strike="noStrike" cap="none" dirty="0">
              <a:solidFill>
                <a:srgbClr val="E7E7E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9" name="Google Shape;569;p49"/>
          <p:cNvSpPr txBox="1"/>
          <p:nvPr/>
        </p:nvSpPr>
        <p:spPr>
          <a:xfrm>
            <a:off x="6384129" y="3501112"/>
            <a:ext cx="20136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175" tIns="107175" rIns="107175" bIns="1071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9"/>
              <a:buFont typeface="Arial"/>
              <a:buNone/>
            </a:pPr>
            <a:r>
              <a:rPr lang="pt-BR" sz="1055" b="1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Lourival Pereira</a:t>
            </a:r>
            <a:endParaRPr sz="1055" b="1" dirty="0">
              <a:solidFill>
                <a:srgbClr val="E7E7E7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9"/>
              <a:buFont typeface="Arial"/>
              <a:buNone/>
            </a:pPr>
            <a:r>
              <a:rPr lang="pt-BR" sz="1055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lourival.pereira@bbts.com.br</a:t>
            </a:r>
            <a:endParaRPr sz="1055" dirty="0">
              <a:solidFill>
                <a:srgbClr val="E7E7E7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9"/>
              <a:buFont typeface="Arial"/>
              <a:buNone/>
            </a:pPr>
            <a:r>
              <a:rPr lang="pt-BR" sz="1055" dirty="0">
                <a:solidFill>
                  <a:srgbClr val="E7E7E7"/>
                </a:solidFill>
                <a:latin typeface="Manrope"/>
                <a:ea typeface="Manrope"/>
                <a:cs typeface="Manrope"/>
                <a:sym typeface="Manrope"/>
              </a:rPr>
              <a:t>(61) 9 8638-8326</a:t>
            </a:r>
            <a:endParaRPr sz="1055" i="0" u="none" strike="noStrike" cap="none" dirty="0">
              <a:solidFill>
                <a:srgbClr val="E7E7E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a8ee1c0-7bef-4b0e-9720-38e5bcc1c3ad}" enabled="1" method="Privileged" siteId="{ffc0be44-315f-4479-b12f-56afe6ededd6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2580</Words>
  <Application>Microsoft Office PowerPoint</Application>
  <PresentationFormat>Apresentação na tela (16:9)</PresentationFormat>
  <Paragraphs>446</Paragraphs>
  <Slides>37</Slides>
  <Notes>37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5" baseType="lpstr">
      <vt:lpstr>Arial</vt:lpstr>
      <vt:lpstr>Manrope ExtraLight</vt:lpstr>
      <vt:lpstr>Manrope ExtraBold</vt:lpstr>
      <vt:lpstr>Manrope Light</vt:lpstr>
      <vt:lpstr>Manrope</vt:lpstr>
      <vt:lpstr>Aptos</vt:lpstr>
      <vt:lpstr>Manrope Medium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Janaina Tenorio Trancoso T Junqueira</cp:lastModifiedBy>
  <cp:revision>4</cp:revision>
  <dcterms:modified xsi:type="dcterms:W3CDTF">2026-09-10T19:39:32Z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Simple Light:3</vt:lpwstr>
  </property>
  <property fmtid="{D5CDD505-2E9C-101B-9397-08002B2CF9AE}" pid="3" name="ClassificationContentMarkingHeaderText">
    <vt:lpwstr>#pública</vt:lpwstr>
  </property>
</Properties>
</file>