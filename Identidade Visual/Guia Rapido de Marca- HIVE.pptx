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63" r:id="rId2"/>
    <p:sldId id="266" r:id="rId3"/>
    <p:sldId id="272" r:id="rId4"/>
    <p:sldId id="292" r:id="rId5"/>
    <p:sldId id="294" r:id="rId6"/>
    <p:sldId id="291" r:id="rId7"/>
    <p:sldId id="293" r:id="rId8"/>
    <p:sldId id="295" r:id="rId9"/>
    <p:sldId id="296" r:id="rId10"/>
    <p:sldId id="297" r:id="rId11"/>
    <p:sldId id="298" r:id="rId12"/>
    <p:sldId id="299" r:id="rId13"/>
    <p:sldId id="300" r:id="rId14"/>
  </p:sldIdLst>
  <p:sldSz cx="9144000" cy="5143500" type="screen16x9"/>
  <p:notesSz cx="6858000" cy="9144000"/>
  <p:embeddedFontLst>
    <p:embeddedFont>
      <p:font typeface="Manrope" panose="020B0604020202020204" charset="0"/>
      <p:regular r:id="rId16"/>
      <p:bold r:id="rId17"/>
    </p:embeddedFont>
    <p:embeddedFont>
      <p:font typeface="Manrope ExtraBold" panose="020B0604020202020204" charset="0"/>
      <p:bold r:id="rId18"/>
    </p:embeddedFont>
    <p:embeddedFont>
      <p:font typeface="Manrope ExtraLight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931"/>
    <a:srgbClr val="1A1A1C"/>
    <a:srgbClr val="5E2E08"/>
    <a:srgbClr val="4041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0dd73634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0dd73634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0dd736342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0dd736342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2FC21855-FB47-EBA6-26D4-12699F0E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8F8563F5-43CF-C5C9-A45B-AB04A769E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0E9FB5C0-6BB8-F939-1A26-2D5EA6B4F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59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F84CF68E-9F89-5B5B-593A-212263C6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FC6845B6-E1DA-E0EE-E81D-D1C905D538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D29591A5-78D2-500A-C69E-5E5F65A82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142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6E8BFAD8-E999-58E1-0ECC-5FD9C180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67E65A2E-CF49-502E-7BCD-63E0472A8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0C25F8B2-B571-498B-6F28-D9FADFCF0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840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98BF60D0-D4AB-ADEC-13C3-9D2E5151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119041A7-E558-A1CC-2354-36076B141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098BD73F-673F-C13F-E79C-DF15ECFCA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505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A5896F08-7A02-6894-1947-570EBDA8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0dd736342_0_287:notes">
            <a:extLst>
              <a:ext uri="{FF2B5EF4-FFF2-40B4-BE49-F238E27FC236}">
                <a16:creationId xmlns:a16="http://schemas.microsoft.com/office/drawing/2014/main" id="{FF593E72-42E6-DDD2-BB73-8A5EA78CA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0dd736342_0_287:notes">
            <a:extLst>
              <a:ext uri="{FF2B5EF4-FFF2-40B4-BE49-F238E27FC236}">
                <a16:creationId xmlns:a16="http://schemas.microsoft.com/office/drawing/2014/main" id="{9C01EB49-E398-B0A1-2415-B26D57E8A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214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A3790B32-393F-BF46-3A5B-3CF1F26C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A16CE41C-E35B-C140-7C4D-307F8A167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E4A13A0C-0750-387B-1BE0-34B9236B4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942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3A286D76-1F9C-E641-1943-A13618FA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46CB9191-76A0-8F92-3F18-D5EE620EE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4F7169A8-72CE-3842-61DC-2D6A380F3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406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F386A4B7-6141-178C-D363-6416D2C8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DFEAAE1A-D1ED-13AE-6788-129E87686E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4F6E063F-F22A-A1B9-751B-5CF1E6221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110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C91C7AF3-DC69-3B3F-5D97-BFF302B6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>
            <a:extLst>
              <a:ext uri="{FF2B5EF4-FFF2-40B4-BE49-F238E27FC236}">
                <a16:creationId xmlns:a16="http://schemas.microsoft.com/office/drawing/2014/main" id="{6A2C92B7-4BC2-364C-95C1-446743028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>
            <a:extLst>
              <a:ext uri="{FF2B5EF4-FFF2-40B4-BE49-F238E27FC236}">
                <a16:creationId xmlns:a16="http://schemas.microsoft.com/office/drawing/2014/main" id="{D4D1602C-DDC8-254C-1F8A-2829C3904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368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F9E49064-1CB4-99C3-1895-94631BA7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0dd736342_0_287:notes">
            <a:extLst>
              <a:ext uri="{FF2B5EF4-FFF2-40B4-BE49-F238E27FC236}">
                <a16:creationId xmlns:a16="http://schemas.microsoft.com/office/drawing/2014/main" id="{18563886-89B8-8170-0464-99404ABF7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0dd736342_0_287:notes">
            <a:extLst>
              <a:ext uri="{FF2B5EF4-FFF2-40B4-BE49-F238E27FC236}">
                <a16:creationId xmlns:a16="http://schemas.microsoft.com/office/drawing/2014/main" id="{87CCF211-6CF2-4A18-39DF-8FC6AE3CF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986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296AEC-0054-0C19-5D5A-B40A9B1E4CD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06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#pública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 title="Padonagem 2 B.png"/>
          <p:cNvPicPr preferRelativeResize="0"/>
          <p:nvPr/>
        </p:nvPicPr>
        <p:blipFill rotWithShape="1">
          <a:blip r:embed="rId3">
            <a:alphaModFix amt="70000"/>
          </a:blip>
          <a:srcRect t="10260" b="-10260"/>
          <a:stretch/>
        </p:blipFill>
        <p:spPr>
          <a:xfrm>
            <a:off x="4308250" y="-805275"/>
            <a:ext cx="8029627" cy="835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5;p13" title="Logo HP.png">
            <a:extLst>
              <a:ext uri="{FF2B5EF4-FFF2-40B4-BE49-F238E27FC236}">
                <a16:creationId xmlns:a16="http://schemas.microsoft.com/office/drawing/2014/main" id="{70D1CD9D-D132-742A-5766-68B746A7F28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295" y="2262473"/>
            <a:ext cx="3457286" cy="8983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6;p13">
            <a:extLst>
              <a:ext uri="{FF2B5EF4-FFF2-40B4-BE49-F238E27FC236}">
                <a16:creationId xmlns:a16="http://schemas.microsoft.com/office/drawing/2014/main" id="{E2B0DA78-1376-E942-ECAC-02B2847C073D}"/>
              </a:ext>
            </a:extLst>
          </p:cNvPr>
          <p:cNvSpPr txBox="1"/>
          <p:nvPr/>
        </p:nvSpPr>
        <p:spPr>
          <a:xfrm>
            <a:off x="2811295" y="3160851"/>
            <a:ext cx="4241259" cy="67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EEF1F0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Identidade </a:t>
            </a:r>
            <a:r>
              <a:rPr lang="pt-BR" sz="1200" dirty="0">
                <a:solidFill>
                  <a:srgbClr val="EDB931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Visual</a:t>
            </a:r>
            <a:r>
              <a:rPr lang="pt-BR" sz="1200" dirty="0">
                <a:solidFill>
                  <a:srgbClr val="EEF1F0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 + Identidade </a:t>
            </a:r>
            <a:r>
              <a:rPr lang="pt-BR" sz="1200" dirty="0">
                <a:solidFill>
                  <a:srgbClr val="EDB931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Verbal</a:t>
            </a:r>
            <a:endParaRPr sz="1200" dirty="0">
              <a:solidFill>
                <a:srgbClr val="EDB931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sp>
        <p:nvSpPr>
          <p:cNvPr id="7" name="Google Shape;61;p14">
            <a:extLst>
              <a:ext uri="{FF2B5EF4-FFF2-40B4-BE49-F238E27FC236}">
                <a16:creationId xmlns:a16="http://schemas.microsoft.com/office/drawing/2014/main" id="{461BDDAC-FB3B-3AF8-0D50-0A1251D11A24}"/>
              </a:ext>
            </a:extLst>
          </p:cNvPr>
          <p:cNvSpPr txBox="1"/>
          <p:nvPr/>
        </p:nvSpPr>
        <p:spPr>
          <a:xfrm>
            <a:off x="177624" y="1326832"/>
            <a:ext cx="5767500" cy="962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chemeClr val="bg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Guia rápido da marca</a:t>
            </a:r>
            <a:endParaRPr sz="2800" dirty="0">
              <a:solidFill>
                <a:schemeClr val="bg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/>
        </p:nvSpPr>
        <p:spPr>
          <a:xfrm>
            <a:off x="1272750" y="816586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 que a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marca</a:t>
            </a: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representa:</a:t>
            </a:r>
            <a:endParaRPr sz="280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title="Padronagem 1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67;p23">
            <a:extLst>
              <a:ext uri="{FF2B5EF4-FFF2-40B4-BE49-F238E27FC236}">
                <a16:creationId xmlns:a16="http://schemas.microsoft.com/office/drawing/2014/main" id="{04DACD93-BC02-B785-695E-1732851CAEBB}"/>
              </a:ext>
            </a:extLst>
          </p:cNvPr>
          <p:cNvSpPr txBox="1"/>
          <p:nvPr/>
        </p:nvSpPr>
        <p:spPr>
          <a:xfrm>
            <a:off x="1055451" y="2031162"/>
            <a:ext cx="7033098" cy="96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O </a:t>
            </a:r>
            <a:r>
              <a:rPr lang="pt-BR" b="1" dirty="0" err="1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HIVEPlace</a:t>
            </a:r>
            <a:r>
              <a:rPr lang="pt-BR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é a primeira agência de interoperabilidade, conectando organizações, tecnologias e pessoas para transformar complexidade em inteligência coletiva. A comunicação deve transmitir </a:t>
            </a:r>
            <a:r>
              <a:rPr lang="pt-BR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inovação, autoridade, confiança e simplicidade.</a:t>
            </a:r>
            <a:endParaRPr dirty="0">
              <a:solidFill>
                <a:srgbClr val="EDB93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9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525775" y="2433150"/>
            <a:ext cx="7367700" cy="76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/>
        </p:nvSpPr>
        <p:spPr>
          <a:xfrm>
            <a:off x="2101174" y="635850"/>
            <a:ext cx="6158276" cy="1316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4800" b="1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VISUAL</a:t>
            </a:r>
            <a:endParaRPr sz="4800" b="1" dirty="0">
              <a:solidFill>
                <a:srgbClr val="EDB931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272" name="Google Shape;272;p29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6A98C51E-C636-CBFC-63C2-BFEF12BE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3CA0CD47-D81C-BBC9-DAEC-5F8FCF54A7D7}"/>
              </a:ext>
            </a:extLst>
          </p:cNvPr>
          <p:cNvSpPr txBox="1"/>
          <p:nvPr/>
        </p:nvSpPr>
        <p:spPr>
          <a:xfrm>
            <a:off x="1272750" y="364249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Visual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5" name="Google Shape;165;p23">
            <a:extLst>
              <a:ext uri="{FF2B5EF4-FFF2-40B4-BE49-F238E27FC236}">
                <a16:creationId xmlns:a16="http://schemas.microsoft.com/office/drawing/2014/main" id="{DE943928-CB6C-9C0D-26BE-42743A437FE7}"/>
              </a:ext>
            </a:extLst>
          </p:cNvPr>
          <p:cNvSpPr/>
          <p:nvPr/>
        </p:nvSpPr>
        <p:spPr>
          <a:xfrm>
            <a:off x="3406844" y="1410552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Logo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E0AB8F29-80F9-F9BA-AEF8-2D4A15AD2A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>
            <a:extLst>
              <a:ext uri="{FF2B5EF4-FFF2-40B4-BE49-F238E27FC236}">
                <a16:creationId xmlns:a16="http://schemas.microsoft.com/office/drawing/2014/main" id="{0727B3BE-06CB-259C-7664-1AC885B41E17}"/>
              </a:ext>
            </a:extLst>
          </p:cNvPr>
          <p:cNvSpPr txBox="1"/>
          <p:nvPr/>
        </p:nvSpPr>
        <p:spPr>
          <a:xfrm>
            <a:off x="3478394" y="1717828"/>
            <a:ext cx="2170800" cy="39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Sempre utilizar a versão oficial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23">
            <a:extLst>
              <a:ext uri="{FF2B5EF4-FFF2-40B4-BE49-F238E27FC236}">
                <a16:creationId xmlns:a16="http://schemas.microsoft.com/office/drawing/2014/main" id="{69F32D75-7712-5E42-09E4-867B0CF7F30A}"/>
              </a:ext>
            </a:extLst>
          </p:cNvPr>
          <p:cNvSpPr txBox="1"/>
          <p:nvPr/>
        </p:nvSpPr>
        <p:spPr>
          <a:xfrm>
            <a:off x="4010814" y="3952063"/>
            <a:ext cx="2133900" cy="92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Alterar cores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Distorcer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Aplicar sombras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Criar novas versões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" name="Google Shape;179;p23">
            <a:extLst>
              <a:ext uri="{FF2B5EF4-FFF2-40B4-BE49-F238E27FC236}">
                <a16:creationId xmlns:a16="http://schemas.microsoft.com/office/drawing/2014/main" id="{B6409DDE-4B0B-381F-63A9-0B2269F07C46}"/>
              </a:ext>
            </a:extLst>
          </p:cNvPr>
          <p:cNvSpPr txBox="1"/>
          <p:nvPr/>
        </p:nvSpPr>
        <p:spPr>
          <a:xfrm>
            <a:off x="3513258" y="3677397"/>
            <a:ext cx="2133900" cy="39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Não faça:</a:t>
            </a:r>
            <a:endParaRPr sz="10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0" name="Google Shape;180;p23" title="Padronagem 1 B.png">
            <a:extLst>
              <a:ext uri="{FF2B5EF4-FFF2-40B4-BE49-F238E27FC236}">
                <a16:creationId xmlns:a16="http://schemas.microsoft.com/office/drawing/2014/main" id="{81724785-9439-95FC-E508-73964459FB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5;p13" title="Logo HP.png">
            <a:extLst>
              <a:ext uri="{FF2B5EF4-FFF2-40B4-BE49-F238E27FC236}">
                <a16:creationId xmlns:a16="http://schemas.microsoft.com/office/drawing/2014/main" id="{09788F5E-8100-1E62-754A-61CA34C1367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6319" y="2198482"/>
            <a:ext cx="4071362" cy="10185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680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12B9EAC5-031C-BD2E-7D82-1C046D93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D9EDD96A-01F0-BC4A-BD5F-05F51669B1E8}"/>
              </a:ext>
            </a:extLst>
          </p:cNvPr>
          <p:cNvSpPr txBox="1"/>
          <p:nvPr/>
        </p:nvSpPr>
        <p:spPr>
          <a:xfrm>
            <a:off x="1272750" y="364249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Visual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5" name="Google Shape;165;p23">
            <a:extLst>
              <a:ext uri="{FF2B5EF4-FFF2-40B4-BE49-F238E27FC236}">
                <a16:creationId xmlns:a16="http://schemas.microsoft.com/office/drawing/2014/main" id="{E2D2CE21-355A-15D1-C112-582E6211D8E0}"/>
              </a:ext>
            </a:extLst>
          </p:cNvPr>
          <p:cNvSpPr/>
          <p:nvPr/>
        </p:nvSpPr>
        <p:spPr>
          <a:xfrm>
            <a:off x="510160" y="1403730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Elementos gráficos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BCD4541C-3C82-B87D-6EF9-0388E12B6C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>
            <a:extLst>
              <a:ext uri="{FF2B5EF4-FFF2-40B4-BE49-F238E27FC236}">
                <a16:creationId xmlns:a16="http://schemas.microsoft.com/office/drawing/2014/main" id="{AA280A1A-624E-26B3-54BB-9EFCB6E88B19}"/>
              </a:ext>
            </a:extLst>
          </p:cNvPr>
          <p:cNvSpPr txBox="1"/>
          <p:nvPr/>
        </p:nvSpPr>
        <p:spPr>
          <a:xfrm>
            <a:off x="581710" y="1722330"/>
            <a:ext cx="2170800" cy="39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Nossa linguagem visual utiliza: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23">
            <a:extLst>
              <a:ext uri="{FF2B5EF4-FFF2-40B4-BE49-F238E27FC236}">
                <a16:creationId xmlns:a16="http://schemas.microsoft.com/office/drawing/2014/main" id="{181ED4C0-365A-3186-7720-9645DC575054}"/>
              </a:ext>
            </a:extLst>
          </p:cNvPr>
          <p:cNvSpPr txBox="1"/>
          <p:nvPr/>
        </p:nvSpPr>
        <p:spPr>
          <a:xfrm>
            <a:off x="902772" y="1974123"/>
            <a:ext cx="2133900" cy="92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Hexágonos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Conexões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Padrões modulares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Formas geométricas </a:t>
            </a:r>
          </a:p>
        </p:txBody>
      </p:sp>
      <p:sp>
        <p:nvSpPr>
          <p:cNvPr id="179" name="Google Shape;179;p23">
            <a:extLst>
              <a:ext uri="{FF2B5EF4-FFF2-40B4-BE49-F238E27FC236}">
                <a16:creationId xmlns:a16="http://schemas.microsoft.com/office/drawing/2014/main" id="{3D1523E9-259A-1FFD-31C1-5F56D8DDC66B}"/>
              </a:ext>
            </a:extLst>
          </p:cNvPr>
          <p:cNvSpPr txBox="1"/>
          <p:nvPr/>
        </p:nvSpPr>
        <p:spPr>
          <a:xfrm>
            <a:off x="258966" y="2873156"/>
            <a:ext cx="2816287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Eles representam </a:t>
            </a:r>
            <a:r>
              <a:rPr lang="pt-BR" sz="10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interoperabilidade, integração e ecossistemas</a:t>
            </a: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8FC064-F166-D30E-DD74-9F94854BC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236" y="1403730"/>
            <a:ext cx="4991357" cy="30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35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DD369DBD-B20A-1181-A52B-6CE25517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06A100BA-A780-710F-5B13-29344C67FCA0}"/>
              </a:ext>
            </a:extLst>
          </p:cNvPr>
          <p:cNvSpPr txBox="1"/>
          <p:nvPr/>
        </p:nvSpPr>
        <p:spPr>
          <a:xfrm>
            <a:off x="1272750" y="281088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Visual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BE02B789-8801-A8BE-EFEF-4EC41151BA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>
            <a:extLst>
              <a:ext uri="{FF2B5EF4-FFF2-40B4-BE49-F238E27FC236}">
                <a16:creationId xmlns:a16="http://schemas.microsoft.com/office/drawing/2014/main" id="{EF37421E-D215-1900-59C1-40D7429D940B}"/>
              </a:ext>
            </a:extLst>
          </p:cNvPr>
          <p:cNvSpPr/>
          <p:nvPr/>
        </p:nvSpPr>
        <p:spPr>
          <a:xfrm>
            <a:off x="1043634" y="1516296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Cores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9" name="Google Shape;169;p23">
            <a:extLst>
              <a:ext uri="{FF2B5EF4-FFF2-40B4-BE49-F238E27FC236}">
                <a16:creationId xmlns:a16="http://schemas.microsoft.com/office/drawing/2014/main" id="{6EE37F5F-2AD1-627F-3630-84166F16ACAE}"/>
              </a:ext>
            </a:extLst>
          </p:cNvPr>
          <p:cNvSpPr txBox="1"/>
          <p:nvPr/>
        </p:nvSpPr>
        <p:spPr>
          <a:xfrm>
            <a:off x="1104902" y="1813780"/>
            <a:ext cx="2133900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Nossa identidade é baseada principalmente em:</a:t>
            </a:r>
          </a:p>
        </p:txBody>
      </p:sp>
      <p:sp>
        <p:nvSpPr>
          <p:cNvPr id="5" name="Google Shape;169;p23">
            <a:extLst>
              <a:ext uri="{FF2B5EF4-FFF2-40B4-BE49-F238E27FC236}">
                <a16:creationId xmlns:a16="http://schemas.microsoft.com/office/drawing/2014/main" id="{A834C653-2441-9D8B-3ED3-57E301E801D4}"/>
              </a:ext>
            </a:extLst>
          </p:cNvPr>
          <p:cNvSpPr txBox="1"/>
          <p:nvPr/>
        </p:nvSpPr>
        <p:spPr>
          <a:xfrm>
            <a:off x="1661081" y="2215495"/>
            <a:ext cx="1198273" cy="75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Preto 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1"/>
                </a:solidFill>
                <a:latin typeface="Manrope"/>
                <a:ea typeface="Manrope"/>
                <a:cs typeface="Manrope"/>
                <a:sym typeface="Manrope"/>
              </a:rPr>
              <a:t>Branco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Dourado</a:t>
            </a:r>
          </a:p>
        </p:txBody>
      </p:sp>
      <p:sp>
        <p:nvSpPr>
          <p:cNvPr id="7" name="Google Shape;169;p23">
            <a:extLst>
              <a:ext uri="{FF2B5EF4-FFF2-40B4-BE49-F238E27FC236}">
                <a16:creationId xmlns:a16="http://schemas.microsoft.com/office/drawing/2014/main" id="{8E6C4337-753F-05F3-2391-45C78C9B3954}"/>
              </a:ext>
            </a:extLst>
          </p:cNvPr>
          <p:cNvSpPr txBox="1"/>
          <p:nvPr/>
        </p:nvSpPr>
        <p:spPr>
          <a:xfrm>
            <a:off x="1661081" y="3003375"/>
            <a:ext cx="1198273" cy="75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1A1A1C"/>
                </a:solidFill>
                <a:latin typeface="Manrope"/>
                <a:ea typeface="Manrope"/>
                <a:cs typeface="Manrope"/>
                <a:sym typeface="Manrope"/>
              </a:rPr>
              <a:t>Tons Grafite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5E2E08"/>
                </a:solidFill>
                <a:latin typeface="Manrope"/>
                <a:ea typeface="Manrope"/>
                <a:cs typeface="Manrope"/>
                <a:sym typeface="Manrope"/>
              </a:rPr>
              <a:t>Marrom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404146"/>
                </a:solidFill>
                <a:latin typeface="Manrope"/>
                <a:ea typeface="Manrope"/>
                <a:cs typeface="Manrope"/>
                <a:sym typeface="Manrope"/>
              </a:rPr>
              <a:t>Cinzas</a:t>
            </a:r>
          </a:p>
        </p:txBody>
      </p:sp>
      <p:sp>
        <p:nvSpPr>
          <p:cNvPr id="9" name="Google Shape;169;p23">
            <a:extLst>
              <a:ext uri="{FF2B5EF4-FFF2-40B4-BE49-F238E27FC236}">
                <a16:creationId xmlns:a16="http://schemas.microsoft.com/office/drawing/2014/main" id="{30622460-5266-4223-B3E9-E307D69CA66B}"/>
              </a:ext>
            </a:extLst>
          </p:cNvPr>
          <p:cNvSpPr txBox="1"/>
          <p:nvPr/>
        </p:nvSpPr>
        <p:spPr>
          <a:xfrm>
            <a:off x="1104902" y="2804724"/>
            <a:ext cx="2133900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Como apoio: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ECB0E39-38AF-C91D-1EC5-15CFBB72C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526" y="1512406"/>
            <a:ext cx="5092992" cy="2843833"/>
          </a:xfrm>
          <a:prstGeom prst="rect">
            <a:avLst/>
          </a:prstGeom>
        </p:spPr>
      </p:pic>
      <p:sp>
        <p:nvSpPr>
          <p:cNvPr id="13" name="Google Shape;169;p23">
            <a:extLst>
              <a:ext uri="{FF2B5EF4-FFF2-40B4-BE49-F238E27FC236}">
                <a16:creationId xmlns:a16="http://schemas.microsoft.com/office/drawing/2014/main" id="{33467A3C-98C6-2B4C-2779-B3B358438BF9}"/>
              </a:ext>
            </a:extLst>
          </p:cNvPr>
          <p:cNvSpPr txBox="1"/>
          <p:nvPr/>
        </p:nvSpPr>
        <p:spPr>
          <a:xfrm>
            <a:off x="3539751" y="4397683"/>
            <a:ext cx="5162542" cy="53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O </a:t>
            </a:r>
            <a:r>
              <a:rPr lang="pt-BR" sz="9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dourado</a:t>
            </a:r>
            <a:r>
              <a:rPr lang="pt-BR" sz="9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deve ser usado para destacar informações importantes e não competir com o restante da composição.</a:t>
            </a:r>
          </a:p>
        </p:txBody>
      </p:sp>
    </p:spTree>
    <p:extLst>
      <p:ext uri="{BB962C8B-B14F-4D97-AF65-F5344CB8AC3E}">
        <p14:creationId xmlns:p14="http://schemas.microsoft.com/office/powerpoint/2010/main" val="120766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72B1C42F-2DBD-E988-2FD9-C31AFB5B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C90A0D47-CFED-3B68-9183-60121BD0FCC3}"/>
              </a:ext>
            </a:extLst>
          </p:cNvPr>
          <p:cNvSpPr txBox="1"/>
          <p:nvPr/>
        </p:nvSpPr>
        <p:spPr>
          <a:xfrm>
            <a:off x="1272750" y="364249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Visual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5" name="Google Shape;165;p23">
            <a:extLst>
              <a:ext uri="{FF2B5EF4-FFF2-40B4-BE49-F238E27FC236}">
                <a16:creationId xmlns:a16="http://schemas.microsoft.com/office/drawing/2014/main" id="{0EE534D6-0B17-AE42-69D6-F1FB0F9E28C5}"/>
              </a:ext>
            </a:extLst>
          </p:cNvPr>
          <p:cNvSpPr/>
          <p:nvPr/>
        </p:nvSpPr>
        <p:spPr>
          <a:xfrm>
            <a:off x="935025" y="1359026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Tipografia Principal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CB8A5ED3-0811-C248-092F-DC91AB401C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title="Padronagem 1 B.png">
            <a:extLst>
              <a:ext uri="{FF2B5EF4-FFF2-40B4-BE49-F238E27FC236}">
                <a16:creationId xmlns:a16="http://schemas.microsoft.com/office/drawing/2014/main" id="{B5507DA5-7BE3-F0A4-D9A6-3B34041AAE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358DA02-EAB7-FFAF-8A22-0E9E58E1B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79" y="1881706"/>
            <a:ext cx="3562533" cy="2197213"/>
          </a:xfrm>
          <a:prstGeom prst="rect">
            <a:avLst/>
          </a:prstGeom>
        </p:spPr>
      </p:pic>
      <p:sp>
        <p:nvSpPr>
          <p:cNvPr id="8" name="Google Shape;165;p23">
            <a:extLst>
              <a:ext uri="{FF2B5EF4-FFF2-40B4-BE49-F238E27FC236}">
                <a16:creationId xmlns:a16="http://schemas.microsoft.com/office/drawing/2014/main" id="{7E2888BC-8257-1200-EA43-6BA6BD63F173}"/>
              </a:ext>
            </a:extLst>
          </p:cNvPr>
          <p:cNvSpPr/>
          <p:nvPr/>
        </p:nvSpPr>
        <p:spPr>
          <a:xfrm>
            <a:off x="5595244" y="1359026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Tipografia Secundária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EB22B3D-9DBF-FA8A-6B3B-A03883FC5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001" y="1881706"/>
            <a:ext cx="3794386" cy="219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269">
          <a:extLst>
            <a:ext uri="{FF2B5EF4-FFF2-40B4-BE49-F238E27FC236}">
              <a16:creationId xmlns:a16="http://schemas.microsoft.com/office/drawing/2014/main" id="{1410BEBD-5168-2A83-1944-4070B443A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9" title="Padonagem 2 B.png">
            <a:extLst>
              <a:ext uri="{FF2B5EF4-FFF2-40B4-BE49-F238E27FC236}">
                <a16:creationId xmlns:a16="http://schemas.microsoft.com/office/drawing/2014/main" id="{77C00F17-3D88-299A-323B-D7E303FEA242}"/>
              </a:ext>
            </a:extLst>
          </p:cNvPr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525775" y="2433150"/>
            <a:ext cx="7367700" cy="76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>
            <a:extLst>
              <a:ext uri="{FF2B5EF4-FFF2-40B4-BE49-F238E27FC236}">
                <a16:creationId xmlns:a16="http://schemas.microsoft.com/office/drawing/2014/main" id="{3E652DF8-285C-1ABB-850A-182E5ADAEF59}"/>
              </a:ext>
            </a:extLst>
          </p:cNvPr>
          <p:cNvSpPr txBox="1"/>
          <p:nvPr/>
        </p:nvSpPr>
        <p:spPr>
          <a:xfrm>
            <a:off x="1999034" y="635850"/>
            <a:ext cx="6260416" cy="1316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4800" b="1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VERBAL</a:t>
            </a:r>
            <a:endParaRPr sz="4800" b="1" dirty="0">
              <a:solidFill>
                <a:srgbClr val="EDB931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272" name="Google Shape;272;p29" title="Icon HP.png">
            <a:extLst>
              <a:ext uri="{FF2B5EF4-FFF2-40B4-BE49-F238E27FC236}">
                <a16:creationId xmlns:a16="http://schemas.microsoft.com/office/drawing/2014/main" id="{6116B7D8-4DED-8CDE-6684-05594B24B2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397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0554A958-440B-E543-800C-68D5651D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09B1D8BC-67F5-D917-D3D0-0026292977EA}"/>
              </a:ext>
            </a:extLst>
          </p:cNvPr>
          <p:cNvSpPr txBox="1"/>
          <p:nvPr/>
        </p:nvSpPr>
        <p:spPr>
          <a:xfrm>
            <a:off x="1272750" y="418039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Verbal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E5A7EBD6-F2CA-D6D8-0FFA-543A736F0D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>
            <a:extLst>
              <a:ext uri="{FF2B5EF4-FFF2-40B4-BE49-F238E27FC236}">
                <a16:creationId xmlns:a16="http://schemas.microsoft.com/office/drawing/2014/main" id="{36B96EC5-E31F-5755-70A9-74AD37EBBE95}"/>
              </a:ext>
            </a:extLst>
          </p:cNvPr>
          <p:cNvSpPr txBox="1"/>
          <p:nvPr/>
        </p:nvSpPr>
        <p:spPr>
          <a:xfrm>
            <a:off x="2733840" y="3484306"/>
            <a:ext cx="3227845" cy="75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Visionário Soberano: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Nossa voz carrega a </a:t>
            </a:r>
            <a:r>
              <a:rPr lang="pt-BR" sz="10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tranquilidade</a:t>
            </a: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de quem domina o </a:t>
            </a:r>
            <a:r>
              <a:rPr lang="pt-BR" sz="10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caos</a:t>
            </a: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. Não precisamos gritar para ser ouvido.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23">
            <a:extLst>
              <a:ext uri="{FF2B5EF4-FFF2-40B4-BE49-F238E27FC236}">
                <a16:creationId xmlns:a16="http://schemas.microsoft.com/office/drawing/2014/main" id="{E7FDEA9A-A569-4D3F-556A-4C37C33C328B}"/>
              </a:ext>
            </a:extLst>
          </p:cNvPr>
          <p:cNvSpPr txBox="1"/>
          <p:nvPr/>
        </p:nvSpPr>
        <p:spPr>
          <a:xfrm>
            <a:off x="1048513" y="1828381"/>
            <a:ext cx="7046974" cy="64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 identidade verbal é a forma como o </a:t>
            </a:r>
            <a:r>
              <a:rPr lang="pt-BR" sz="1200" b="1" dirty="0" err="1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HIVEPlace</a:t>
            </a: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se expressa: o tom, as palavras e as mensagens que dão consistência para nossa comunicação ao longo do tempo.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0" name="Google Shape;180;p23" title="Padronagem 1 B.png">
            <a:extLst>
              <a:ext uri="{FF2B5EF4-FFF2-40B4-BE49-F238E27FC236}">
                <a16:creationId xmlns:a16="http://schemas.microsoft.com/office/drawing/2014/main" id="{91052EFC-2477-9793-FA13-5849690ED0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5;p23">
            <a:extLst>
              <a:ext uri="{FF2B5EF4-FFF2-40B4-BE49-F238E27FC236}">
                <a16:creationId xmlns:a16="http://schemas.microsoft.com/office/drawing/2014/main" id="{F25869A4-AC66-B6C6-7594-92A4E91FD5AC}"/>
              </a:ext>
            </a:extLst>
          </p:cNvPr>
          <p:cNvSpPr/>
          <p:nvPr/>
        </p:nvSpPr>
        <p:spPr>
          <a:xfrm>
            <a:off x="3190813" y="3126355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Tom de voz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6593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F64BC5EF-FF97-5EE0-C947-DE15DCC5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7E7247AD-1C9D-EF98-C477-0FE719E696C6}"/>
              </a:ext>
            </a:extLst>
          </p:cNvPr>
          <p:cNvSpPr txBox="1"/>
          <p:nvPr/>
        </p:nvSpPr>
        <p:spPr>
          <a:xfrm>
            <a:off x="1272750" y="132181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Verbal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E231AB54-D969-F58F-3331-04176A291C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>
            <a:extLst>
              <a:ext uri="{FF2B5EF4-FFF2-40B4-BE49-F238E27FC236}">
                <a16:creationId xmlns:a16="http://schemas.microsoft.com/office/drawing/2014/main" id="{A1296FF3-34A9-5FCE-5658-12DE196E1288}"/>
              </a:ext>
            </a:extLst>
          </p:cNvPr>
          <p:cNvSpPr txBox="1"/>
          <p:nvPr/>
        </p:nvSpPr>
        <p:spPr>
          <a:xfrm>
            <a:off x="3182472" y="1374696"/>
            <a:ext cx="4374776" cy="3682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000" b="1" dirty="0">
                <a:solidFill>
                  <a:srgbClr val="EDB931"/>
                </a:solidFill>
                <a:latin typeface="Manrope" panose="020B0604020202020204" charset="0"/>
              </a:rPr>
              <a:t>Orquestrar </a:t>
            </a:r>
            <a:r>
              <a:rPr lang="pt-BR" sz="1000" dirty="0">
                <a:solidFill>
                  <a:srgbClr val="EDB931"/>
                </a:solidFill>
                <a:latin typeface="Manrope" panose="020B0604020202020204" charset="0"/>
              </a:rPr>
              <a:t>(A palavra-chave central).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Harmonizar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(Reforça a "revolução pela ordem" 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Desenhar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(Implica intenção e arquitetura, não improviso).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Habilitar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(Foco no empoderamento do cliente).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Traduzir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(Converter dor de negócio em realidade sistêmica).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Governar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(Assumir a responsabilidade e o controle).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Pacificar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(Resolver o conflito entre sistemas legados e inovação).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Desbloquear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(Liberar o potencial travado nos silos 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Fluir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(Tornar a tecnologia "invisível" e sem atrito 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Escalar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(Levar do piloto para a operação real).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Tangibilizar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(Tornar o "impossível, viável" 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Unificar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(Contra a fragmentação 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Estruturar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(Criar as "estradas" para o futuro 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Provar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(Validar valor rápido ).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● </a:t>
            </a:r>
            <a:r>
              <a:rPr lang="pt-BR" sz="1000" b="1" dirty="0">
                <a:solidFill>
                  <a:schemeClr val="bg1"/>
                </a:solidFill>
                <a:latin typeface="Manrope" panose="020B0604020202020204" charset="0"/>
              </a:rPr>
              <a:t>Emergir </a:t>
            </a:r>
            <a:r>
              <a:rPr lang="pt-BR" sz="1000" dirty="0">
                <a:solidFill>
                  <a:schemeClr val="bg1"/>
                </a:solidFill>
                <a:latin typeface="Manrope" panose="020B0604020202020204" charset="0"/>
              </a:rPr>
              <a:t>(Fazer a inteligência coletiva aparecer ).</a:t>
            </a:r>
            <a:endParaRPr sz="600" dirty="0">
              <a:solidFill>
                <a:schemeClr val="bg1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pic>
        <p:nvPicPr>
          <p:cNvPr id="180" name="Google Shape;180;p23" title="Padronagem 1 B.png">
            <a:extLst>
              <a:ext uri="{FF2B5EF4-FFF2-40B4-BE49-F238E27FC236}">
                <a16:creationId xmlns:a16="http://schemas.microsoft.com/office/drawing/2014/main" id="{8B05472E-2353-746C-7C7B-27F40241519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5;p23">
            <a:extLst>
              <a:ext uri="{FF2B5EF4-FFF2-40B4-BE49-F238E27FC236}">
                <a16:creationId xmlns:a16="http://schemas.microsoft.com/office/drawing/2014/main" id="{9192118C-A73D-01E2-0AE2-A22A6CE177FE}"/>
              </a:ext>
            </a:extLst>
          </p:cNvPr>
          <p:cNvSpPr/>
          <p:nvPr/>
        </p:nvSpPr>
        <p:spPr>
          <a:xfrm>
            <a:off x="486418" y="1056096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Prefira dizer:</a:t>
            </a:r>
          </a:p>
        </p:txBody>
      </p:sp>
    </p:spTree>
    <p:extLst>
      <p:ext uri="{BB962C8B-B14F-4D97-AF65-F5344CB8AC3E}">
        <p14:creationId xmlns:p14="http://schemas.microsoft.com/office/powerpoint/2010/main" val="14395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5AEA07A3-7EE9-7B02-6415-2CB21274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0D6F0D19-2462-7A12-01BE-176153B56C0D}"/>
              </a:ext>
            </a:extLst>
          </p:cNvPr>
          <p:cNvSpPr txBox="1"/>
          <p:nvPr/>
        </p:nvSpPr>
        <p:spPr>
          <a:xfrm>
            <a:off x="1272750" y="0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Verbal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B59CD0A5-81C8-9A47-38D5-9E0F22E5B4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>
            <a:extLst>
              <a:ext uri="{FF2B5EF4-FFF2-40B4-BE49-F238E27FC236}">
                <a16:creationId xmlns:a16="http://schemas.microsoft.com/office/drawing/2014/main" id="{23D19BD6-89FA-BB35-D2EE-97864FDECEB2}"/>
              </a:ext>
            </a:extLst>
          </p:cNvPr>
          <p:cNvSpPr txBox="1"/>
          <p:nvPr/>
        </p:nvSpPr>
        <p:spPr>
          <a:xfrm>
            <a:off x="2461976" y="1287558"/>
            <a:ext cx="4831306" cy="3855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050" b="1" dirty="0">
                <a:solidFill>
                  <a:srgbClr val="EDB931"/>
                </a:solidFill>
              </a:rPr>
              <a:t>Agência de Interoperabilidade </a:t>
            </a:r>
            <a:r>
              <a:rPr lang="pt-BR" sz="1050" dirty="0">
                <a:solidFill>
                  <a:srgbClr val="EDB931"/>
                </a:solidFill>
              </a:rPr>
              <a:t>(A definição da categoria).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Autoridade Neutra </a:t>
            </a:r>
            <a:r>
              <a:rPr lang="pt-BR" sz="1050" dirty="0">
                <a:solidFill>
                  <a:schemeClr val="bg1"/>
                </a:solidFill>
              </a:rPr>
              <a:t>(Posicionamento de não-concorrência e confiança).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Inteligência Coletiva </a:t>
            </a:r>
            <a:r>
              <a:rPr lang="pt-BR" sz="1050" dirty="0">
                <a:solidFill>
                  <a:schemeClr val="bg1"/>
                </a:solidFill>
              </a:rPr>
              <a:t>(O resultado final da conexão).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Ecossistema </a:t>
            </a:r>
            <a:r>
              <a:rPr lang="pt-BR" sz="1050" dirty="0">
                <a:solidFill>
                  <a:schemeClr val="bg1"/>
                </a:solidFill>
              </a:rPr>
              <a:t>(Em vez de apenas "sistema" ou "rede").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Arquitetura </a:t>
            </a:r>
            <a:r>
              <a:rPr lang="pt-BR" sz="1050" dirty="0">
                <a:solidFill>
                  <a:schemeClr val="bg1"/>
                </a:solidFill>
              </a:rPr>
              <a:t>(A base estrutural, mais nobre que "software").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Pontes Invisíveis </a:t>
            </a:r>
            <a:r>
              <a:rPr lang="pt-BR" sz="1050" dirty="0">
                <a:solidFill>
                  <a:schemeClr val="bg1"/>
                </a:solidFill>
              </a:rPr>
              <a:t>(A metáfora da nossa solução).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Fluxos </a:t>
            </a:r>
            <a:r>
              <a:rPr lang="pt-BR" sz="1050" dirty="0">
                <a:solidFill>
                  <a:schemeClr val="bg1"/>
                </a:solidFill>
              </a:rPr>
              <a:t>(Movimento contínuo de dados).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Legado </a:t>
            </a:r>
            <a:r>
              <a:rPr lang="pt-BR" sz="1050" dirty="0">
                <a:solidFill>
                  <a:schemeClr val="bg1"/>
                </a:solidFill>
              </a:rPr>
              <a:t>(Tanto os sistemas antigos quanto o que deixamos para o mundo).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Soberania </a:t>
            </a:r>
            <a:r>
              <a:rPr lang="pt-BR" sz="1050" dirty="0">
                <a:solidFill>
                  <a:schemeClr val="bg1"/>
                </a:solidFill>
              </a:rPr>
              <a:t>(Controle total do cliente sobre seus dados).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Bastidores </a:t>
            </a:r>
            <a:r>
              <a:rPr lang="pt-BR" sz="1050" dirty="0">
                <a:solidFill>
                  <a:schemeClr val="bg1"/>
                </a:solidFill>
              </a:rPr>
              <a:t>(Onde a complexidade é resolvida para não impactar o front).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Ordem </a:t>
            </a:r>
            <a:r>
              <a:rPr lang="pt-BR" sz="1050" dirty="0">
                <a:solidFill>
                  <a:schemeClr val="bg1"/>
                </a:solidFill>
              </a:rPr>
              <a:t>(A antítese do caos tecnológico).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Agnosticismo </a:t>
            </a:r>
            <a:r>
              <a:rPr lang="pt-BR" sz="1050" dirty="0">
                <a:solidFill>
                  <a:schemeClr val="bg1"/>
                </a:solidFill>
              </a:rPr>
              <a:t>(Capacidade de operar com qualquer fornecedor 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Compliance </a:t>
            </a:r>
            <a:r>
              <a:rPr lang="pt-BR" sz="1050" dirty="0">
                <a:solidFill>
                  <a:schemeClr val="bg1"/>
                </a:solidFill>
              </a:rPr>
              <a:t>(Parte da governança responsável).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Time-</a:t>
            </a:r>
            <a:r>
              <a:rPr lang="pt-BR" sz="1050" b="1" dirty="0" err="1">
                <a:solidFill>
                  <a:schemeClr val="bg1"/>
                </a:solidFill>
              </a:rPr>
              <a:t>to</a:t>
            </a:r>
            <a:r>
              <a:rPr lang="pt-BR" sz="1050" b="1" dirty="0">
                <a:solidFill>
                  <a:schemeClr val="bg1"/>
                </a:solidFill>
              </a:rPr>
              <a:t>-</a:t>
            </a:r>
            <a:r>
              <a:rPr lang="pt-BR" sz="1050" b="1" dirty="0" err="1">
                <a:solidFill>
                  <a:schemeClr val="bg1"/>
                </a:solidFill>
              </a:rPr>
              <a:t>market</a:t>
            </a:r>
            <a:r>
              <a:rPr lang="pt-BR" sz="1050" b="1" dirty="0">
                <a:solidFill>
                  <a:schemeClr val="bg1"/>
                </a:solidFill>
              </a:rPr>
              <a:t> </a:t>
            </a:r>
            <a:r>
              <a:rPr lang="pt-BR" sz="1050" dirty="0">
                <a:solidFill>
                  <a:schemeClr val="bg1"/>
                </a:solidFill>
              </a:rPr>
              <a:t>(Aceleração de resultados).</a:t>
            </a:r>
          </a:p>
          <a:p>
            <a:pPr algn="just">
              <a:lnSpc>
                <a:spcPct val="150000"/>
              </a:lnSpc>
            </a:pPr>
            <a:r>
              <a:rPr lang="pt-BR" sz="1050" dirty="0">
                <a:solidFill>
                  <a:schemeClr val="bg1"/>
                </a:solidFill>
              </a:rPr>
              <a:t>● </a:t>
            </a:r>
            <a:r>
              <a:rPr lang="pt-BR" sz="1050" b="1" dirty="0">
                <a:solidFill>
                  <a:schemeClr val="bg1"/>
                </a:solidFill>
              </a:rPr>
              <a:t>Alavanca </a:t>
            </a:r>
            <a:r>
              <a:rPr lang="pt-BR" sz="1050" dirty="0">
                <a:solidFill>
                  <a:schemeClr val="bg1"/>
                </a:solidFill>
              </a:rPr>
              <a:t>(TI como impulsionador, não gargalo).</a:t>
            </a:r>
            <a:endParaRPr sz="300" dirty="0">
              <a:solidFill>
                <a:schemeClr val="bg1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pic>
        <p:nvPicPr>
          <p:cNvPr id="180" name="Google Shape;180;p23" title="Padronagem 1 B.png">
            <a:extLst>
              <a:ext uri="{FF2B5EF4-FFF2-40B4-BE49-F238E27FC236}">
                <a16:creationId xmlns:a16="http://schemas.microsoft.com/office/drawing/2014/main" id="{AB222666-28DF-D428-945D-201E02EA8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5;p23">
            <a:extLst>
              <a:ext uri="{FF2B5EF4-FFF2-40B4-BE49-F238E27FC236}">
                <a16:creationId xmlns:a16="http://schemas.microsoft.com/office/drawing/2014/main" id="{5D6DC7F5-5C2A-4023-CC4C-146260069727}"/>
              </a:ext>
            </a:extLst>
          </p:cNvPr>
          <p:cNvSpPr/>
          <p:nvPr/>
        </p:nvSpPr>
        <p:spPr>
          <a:xfrm>
            <a:off x="295834" y="859787"/>
            <a:ext cx="259413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Palavras que representam nossa marca:</a:t>
            </a:r>
          </a:p>
        </p:txBody>
      </p:sp>
    </p:spTree>
    <p:extLst>
      <p:ext uri="{BB962C8B-B14F-4D97-AF65-F5344CB8AC3E}">
        <p14:creationId xmlns:p14="http://schemas.microsoft.com/office/powerpoint/2010/main" val="3141756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979FF569-E944-0640-32AF-429F1FA3F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368DF645-9777-042F-F02E-5309D130E459}"/>
              </a:ext>
            </a:extLst>
          </p:cNvPr>
          <p:cNvSpPr txBox="1"/>
          <p:nvPr/>
        </p:nvSpPr>
        <p:spPr>
          <a:xfrm>
            <a:off x="1272750" y="364249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</a:t>
            </a:r>
            <a:r>
              <a:rPr lang="pt-BR" sz="2800" dirty="0">
                <a:solidFill>
                  <a:srgbClr val="EDB93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Verbal</a:t>
            </a:r>
            <a:endParaRPr sz="2800" dirty="0">
              <a:solidFill>
                <a:srgbClr val="EDB93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5" name="Google Shape;165;p23">
            <a:extLst>
              <a:ext uri="{FF2B5EF4-FFF2-40B4-BE49-F238E27FC236}">
                <a16:creationId xmlns:a16="http://schemas.microsoft.com/office/drawing/2014/main" id="{4DA834D0-D47E-2348-1430-18C988F90386}"/>
              </a:ext>
            </a:extLst>
          </p:cNvPr>
          <p:cNvSpPr/>
          <p:nvPr/>
        </p:nvSpPr>
        <p:spPr>
          <a:xfrm>
            <a:off x="935024" y="1677626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Sempre comunicar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>
            <a:extLst>
              <a:ext uri="{FF2B5EF4-FFF2-40B4-BE49-F238E27FC236}">
                <a16:creationId xmlns:a16="http://schemas.microsoft.com/office/drawing/2014/main" id="{AEAAFEBE-A10F-3059-1805-609B64DE1A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title="Padronagem 1 B.png">
            <a:extLst>
              <a:ext uri="{FF2B5EF4-FFF2-40B4-BE49-F238E27FC236}">
                <a16:creationId xmlns:a16="http://schemas.microsoft.com/office/drawing/2014/main" id="{B0B388AF-E4FA-9DA3-679B-2A173C2248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5;p23">
            <a:extLst>
              <a:ext uri="{FF2B5EF4-FFF2-40B4-BE49-F238E27FC236}">
                <a16:creationId xmlns:a16="http://schemas.microsoft.com/office/drawing/2014/main" id="{B38205FE-F1DA-786E-4E5E-897EB355DB3E}"/>
              </a:ext>
            </a:extLst>
          </p:cNvPr>
          <p:cNvSpPr/>
          <p:nvPr/>
        </p:nvSpPr>
        <p:spPr>
          <a:xfrm>
            <a:off x="5557350" y="1677626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Antes de se comunicar, pergunte: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" name="Google Shape;179;p23">
            <a:extLst>
              <a:ext uri="{FF2B5EF4-FFF2-40B4-BE49-F238E27FC236}">
                <a16:creationId xmlns:a16="http://schemas.microsoft.com/office/drawing/2014/main" id="{0E0C3AE4-383F-0333-A8FA-E6123CEF5447}"/>
              </a:ext>
            </a:extLst>
          </p:cNvPr>
          <p:cNvSpPr txBox="1"/>
          <p:nvPr/>
        </p:nvSpPr>
        <p:spPr>
          <a:xfrm>
            <a:off x="1386716" y="2020318"/>
            <a:ext cx="1646993" cy="1459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Simplicidade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Interoperabilidade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Inteligência coletiva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Integração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Inovação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Governança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Transformação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179;p23">
            <a:extLst>
              <a:ext uri="{FF2B5EF4-FFF2-40B4-BE49-F238E27FC236}">
                <a16:creationId xmlns:a16="http://schemas.microsoft.com/office/drawing/2014/main" id="{59E95145-48F9-ADEF-1C2B-867F1471EC6D}"/>
              </a:ext>
            </a:extLst>
          </p:cNvPr>
          <p:cNvSpPr txBox="1"/>
          <p:nvPr/>
        </p:nvSpPr>
        <p:spPr>
          <a:xfrm>
            <a:off x="4889983" y="2107641"/>
            <a:ext cx="3648634" cy="92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1714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Isso transmite confiança?</a:t>
            </a:r>
          </a:p>
          <a:p>
            <a:pPr marL="1714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Estamos falando do benefício e não apenas da tecnologia?</a:t>
            </a:r>
          </a:p>
          <a:p>
            <a:pPr marL="1714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Parece uma empresa que lidera um ecossistema?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" name="Google Shape;179;p23">
            <a:extLst>
              <a:ext uri="{FF2B5EF4-FFF2-40B4-BE49-F238E27FC236}">
                <a16:creationId xmlns:a16="http://schemas.microsoft.com/office/drawing/2014/main" id="{5A3729D0-D72A-694A-9C43-349104422191}"/>
              </a:ext>
            </a:extLst>
          </p:cNvPr>
          <p:cNvSpPr txBox="1"/>
          <p:nvPr/>
        </p:nvSpPr>
        <p:spPr>
          <a:xfrm>
            <a:off x="3141290" y="3921553"/>
            <a:ext cx="3089184" cy="64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Nunca focar apenas na tecnologia.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DB931"/>
                </a:solidFill>
                <a:latin typeface="Manrope"/>
                <a:ea typeface="Manrope"/>
                <a:cs typeface="Manrope"/>
                <a:sym typeface="Manrope"/>
              </a:rPr>
              <a:t>Falamos sobre o resultado que ela gera.</a:t>
            </a:r>
            <a:endParaRPr sz="1200" dirty="0">
              <a:solidFill>
                <a:srgbClr val="EDB93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74123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269">
          <a:extLst>
            <a:ext uri="{FF2B5EF4-FFF2-40B4-BE49-F238E27FC236}">
              <a16:creationId xmlns:a16="http://schemas.microsoft.com/office/drawing/2014/main" id="{20B85818-4B17-B343-99EF-DD6D4E2B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9" title="Padonagem 2 B.png">
            <a:extLst>
              <a:ext uri="{FF2B5EF4-FFF2-40B4-BE49-F238E27FC236}">
                <a16:creationId xmlns:a16="http://schemas.microsoft.com/office/drawing/2014/main" id="{897754DA-8EAC-8C0E-8F05-30DAF8CC6E2C}"/>
              </a:ext>
            </a:extLst>
          </p:cNvPr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525775" y="2433150"/>
            <a:ext cx="7367700" cy="76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>
            <a:extLst>
              <a:ext uri="{FF2B5EF4-FFF2-40B4-BE49-F238E27FC236}">
                <a16:creationId xmlns:a16="http://schemas.microsoft.com/office/drawing/2014/main" id="{BF570C06-7235-409A-F0FA-0152D9D7373C}"/>
              </a:ext>
            </a:extLst>
          </p:cNvPr>
          <p:cNvSpPr txBox="1"/>
          <p:nvPr/>
        </p:nvSpPr>
        <p:spPr>
          <a:xfrm>
            <a:off x="2674487" y="1255523"/>
            <a:ext cx="3795026" cy="1316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OBRIGADA!</a:t>
            </a:r>
            <a:endParaRPr sz="4800" b="1" dirty="0">
              <a:solidFill>
                <a:srgbClr val="EDB931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272" name="Google Shape;272;p29" title="Icon HP.png">
            <a:extLst>
              <a:ext uri="{FF2B5EF4-FFF2-40B4-BE49-F238E27FC236}">
                <a16:creationId xmlns:a16="http://schemas.microsoft.com/office/drawing/2014/main" id="{4D4BB622-002A-9C0B-0698-D3A67DCFCF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7444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a8ee1c0-7bef-4b0e-9720-38e5bcc1c3ad}" enabled="1" method="Privileged" siteId="{ffc0be44-315f-4479-b12f-56afe6ededd6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574</Words>
  <Application>Microsoft Office PowerPoint</Application>
  <PresentationFormat>Apresentação na tela (16:9)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Manrope ExtraLight</vt:lpstr>
      <vt:lpstr>Manrope ExtraBold</vt:lpstr>
      <vt:lpstr>Manrope</vt:lpstr>
      <vt:lpstr>Aptos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Janaina Tenorio Trancoso T Junqueira</dc:creator>
  <cp:lastModifiedBy>Janaina Tenorio Trancoso T Junqueira</cp:lastModifiedBy>
  <cp:revision>5</cp:revision>
  <dcterms:modified xsi:type="dcterms:W3CDTF">2026-09-10T19:40:21Z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Simple Light:3</vt:lpwstr>
  </property>
  <property fmtid="{D5CDD505-2E9C-101B-9397-08002B2CF9AE}" pid="3" name="ClassificationContentMarkingHeaderText">
    <vt:lpwstr>#pública</vt:lpwstr>
  </property>
</Properties>
</file>